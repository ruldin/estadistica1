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Default Extension="jpg" ContentType="image/jpe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78c86d91c794f4f" /><Relationship Type="http://schemas.openxmlformats.org/package/2006/relationships/metadata/core-properties" Target="/docProps/core.xml" Id="Rb4d757f5c818451d" /><Relationship Type="http://schemas.openxmlformats.org/officeDocument/2006/relationships/extended-properties" Target="/docProps/app.xml" Id="R32e911cf1f034e6c" /><Relationship Type="http://schemas.openxmlformats.org/officeDocument/2006/relationships/custom-properties" Target="/docProps/custom.xml" Id="R521e58b4d1e54eb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9992ac756d049c0"/>
    <p:sldId id="257" r:id="R317f0b6b27f74917"/>
    <p:sldId id="258" r:id="Rf181e8c9a0e947cb"/>
    <p:sldId id="259" r:id="R8e468de791ef47aa"/>
    <p:sldId id="260" r:id="Rcd049c10084a450b"/>
    <p:sldId id="261" r:id="R7b969192ee804583"/>
    <p:sldId id="262" r:id="R30a0305c72f74fdc"/>
    <p:sldId id="263" r:id="Rc6b0cd2c7489445d"/>
    <p:sldId id="264" r:id="R355cba9737a84144"/>
    <p:sldId id="265" r:id="R013e8402337d401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9992ac756d049c0" /><Relationship Type="http://schemas.openxmlformats.org/officeDocument/2006/relationships/slide" Target="/ppt/slides/slide2.xml" Id="R317f0b6b27f74917" /><Relationship Type="http://schemas.openxmlformats.org/officeDocument/2006/relationships/slide" Target="/ppt/slides/slide3.xml" Id="Rf181e8c9a0e947cb" /><Relationship Type="http://schemas.openxmlformats.org/officeDocument/2006/relationships/slide" Target="/ppt/slides/slide4.xml" Id="R8e468de791ef47aa" /><Relationship Type="http://schemas.openxmlformats.org/officeDocument/2006/relationships/slide" Target="/ppt/slides/slide5.xml" Id="Rcd049c10084a450b" /><Relationship Type="http://schemas.openxmlformats.org/officeDocument/2006/relationships/slide" Target="/ppt/slides/slide6.xml" Id="R7b969192ee804583" /><Relationship Type="http://schemas.openxmlformats.org/officeDocument/2006/relationships/slide" Target="/ppt/slides/slide7.xml" Id="R30a0305c72f74fdc" /><Relationship Type="http://schemas.openxmlformats.org/officeDocument/2006/relationships/slide" Target="/ppt/slides/slide8.xml" Id="Rc6b0cd2c7489445d" /><Relationship Type="http://schemas.openxmlformats.org/officeDocument/2006/relationships/slide" Target="/ppt/slides/slide9.xml" Id="R355cba9737a84144" /><Relationship Type="http://schemas.openxmlformats.org/officeDocument/2006/relationships/slide" Target="/ppt/slides/slide10.xml" Id="R013e8402337d401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4173b61634b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c2f65e67b44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021e97d1e40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7360d610346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1b5a713b4486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11cd5707ae147c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799f577ac42ae" /><Relationship Type="http://schemas.openxmlformats.org/officeDocument/2006/relationships/image" Target="/ppt/media/image.png" Id="R11cff5d1d233400c" /><Relationship Type="http://schemas.openxmlformats.org/officeDocument/2006/relationships/image" Target="/ppt/media/image2.png" Id="R9b7f0fcd97e346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9e15770394d56" /><Relationship Type="http://schemas.openxmlformats.org/officeDocument/2006/relationships/image" Target="/ppt/media/image3.png" Id="R15727f3eaf9e47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6c371209f4e1d" /><Relationship Type="http://schemas.openxmlformats.org/officeDocument/2006/relationships/image" Target="/ppt/media/image4.png" Id="R9fc4ec10980440c9" /><Relationship Type="http://schemas.openxmlformats.org/officeDocument/2006/relationships/image" Target="/ppt/media/image5.png" Id="R2c83d18fa65541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306fe245247ff" /><Relationship Type="http://schemas.openxmlformats.org/officeDocument/2006/relationships/image" Target="/ppt/media/image6.png" Id="R94eb548583e749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8ee6720714638" /><Relationship Type="http://schemas.openxmlformats.org/officeDocument/2006/relationships/image" Target="/ppt/media/image.jpg" Id="Rdef2703f7d174868" /><Relationship Type="http://schemas.openxmlformats.org/officeDocument/2006/relationships/image" Target="/ppt/media/image7.png" Id="R74d947ae7f2048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a3b4cff844962" /><Relationship Type="http://schemas.openxmlformats.org/officeDocument/2006/relationships/image" Target="/ppt/media/image8.png" Id="Rff3f2079c30245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27fb096534c06" /><Relationship Type="http://schemas.openxmlformats.org/officeDocument/2006/relationships/image" Target="/ppt/media/image9.png" Id="R6356d37589354e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32352a49b4a91" /><Relationship Type="http://schemas.openxmlformats.org/officeDocument/2006/relationships/image" Target="/ppt/media/image10.png" Id="R9c803f838a774b69" /><Relationship Type="http://schemas.openxmlformats.org/officeDocument/2006/relationships/image" Target="/ppt/media/image11.png" Id="R6a5c36a1142c48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6fd9f3eb044c7" /><Relationship Type="http://schemas.openxmlformats.org/officeDocument/2006/relationships/image" Target="/ppt/media/image12.png" Id="Rc5de373ecc054f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30589d78146fc" /><Relationship Type="http://schemas.openxmlformats.org/officeDocument/2006/relationships/image" Target="/ppt/media/image13.png" Id="R54e4e0f6ad8a4c4c" /></Relationships>
</file>

<file path=ppt/slides/slide1.xml><?xml version="1.0" encoding="utf-8"?>
<p:sld xmlns:p="http://schemas.openxmlformats.org/presentationml/2006/main">
  <p:cSld name="Portada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UNIVERSIDAD MARIANO GÁLVEZ  •  FACULTAD DE CIENCIAS DE LA ADMINISTRACIÓN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Ciberseguridad e Integridad de la Información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8640" y="2377440"/>
            <a:ext cx="54864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E2E8F0"/>
                </a:solidFill>
              </a:rPr>
              <a:t>Informática I  •  Semana 10 (Parte 1: Amenazas)</a:t>
            </a:r>
          </a:p>
          <a:p xmlns:a="http://schemas.openxmlformats.org/drawingml/2006/main">
            <a:r>
              <a:rPr lang="en-US" sz="2000">
                <a:solidFill>
                  <a:srgbClr val="E2E8F0"/>
                </a:solidFill>
              </a:rPr>
              <a:t>Catedrático: Ruldin Ayala  •  Guatemala, 2026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04" name="Picture 1" descr="Candado sobre circuito: cibersegurida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ff5d1d233400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583680" y="1463040"/>
            <a:ext cx="4937760" cy="2926080"/>
          </a:xfrm>
          <a:prstGeom xmlns:a="http://schemas.openxmlformats.org/drawingml/2006/main" prst="rect">
            <a:avLst/>
          </a:prstGeom>
        </p:spPr>
      </p:pic>
      <p:pic>
        <p:nvPicPr>
          <p:cNvPr id="100005" name="Picture 2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f0fcd97e346f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149840" y="182880"/>
            <a:ext cx="1463040" cy="1251433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 name="Resultados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06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SEMANA 10  •  RESULTADOS DE APRENDIZAJE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Al salir de esta clase serás capaz de…</a:t>
            </a:r>
          </a:p>
        </p:txBody>
      </p:sp>
      <p:sp>
        <p:nvSpPr>
          <p:cNvPr id="100008" name="TextBox 3"/>
          <p:cNvSpPr txBox="1"/>
          <p:nvPr/>
        </p:nvSpPr>
        <p:spPr>
          <a:xfrm xmlns:a="http://schemas.openxmlformats.org/drawingml/2006/main">
            <a:off x="548640" y="1737360"/>
            <a:ext cx="10972800" cy="36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E2E8F0"/>
                </a:solidFill>
              </a:rPr>
              <a:t>• Comprender qué es la ciberseguridad y por qué protege el dinero de la empresa.</a:t>
            </a:r>
          </a:p>
          <a:p xmlns:a="http://schemas.openxmlformats.org/drawingml/2006/main">
            <a:r>
              <a:rPr lang="en-US" sz="2000">
                <a:solidFill>
                  <a:srgbClr val="E2E8F0"/>
                </a:solidFill>
              </a:rPr>
              <a:t>• Analizar la Tríada CIA: Confidencialidad, Integridad y Disponibilidad.</a:t>
            </a:r>
          </a:p>
          <a:p xmlns:a="http://schemas.openxmlformats.org/drawingml/2006/main">
            <a:r>
              <a:rPr lang="en-US" sz="2000">
                <a:solidFill>
                  <a:srgbClr val="E2E8F0"/>
                </a:solidFill>
              </a:rPr>
              <a:t>• Diferenciar malware (virus, gusano, spyware, ransomware, DDoS) e ingeniería social.</a:t>
            </a:r>
          </a:p>
          <a:p xmlns:a="http://schemas.openxmlformats.org/drawingml/2006/main">
            <a:r>
              <a:rPr lang="en-US" sz="2000">
                <a:solidFill>
                  <a:srgbClr val="E2E8F0"/>
                </a:solidFill>
              </a:rPr>
              <a:t>• Evaluar casos reales guatemaltecos y diseñar estrategias preventivas.</a:t>
            </a:r>
          </a:p>
        </p:txBody>
      </p:sp>
      <p:sp>
        <p:nvSpPr>
          <p:cNvPr id="100009" name="TextBox 4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10" name="Picture 1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27f3eaf9e474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0" y="182880"/>
            <a:ext cx="1097280" cy="938575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 name="Triada CIA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11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FUNDAMENTO  •  LA TRÍADA CIA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La Tríada CIA: el modelo de todo gerente</a:t>
            </a:r>
          </a:p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548640" y="1554480"/>
            <a:ext cx="566928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La ciberdelincuencia roba dinero, información y reputación.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CONFIDENCIALIDAD: solo autorizados (Need to Know). Ej.: claves, planillas.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INTEGRIDAD: que nadie altere los datos. Ej.: facturas DTE, inventarios.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DISPONIBILIDAD: acceso cuando se necesita. Ej.: POS, FEL, tienda en línea.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Si un pilar falla, el negocio pierde dinero.</a:t>
            </a:r>
          </a:p>
        </p:txBody>
      </p:sp>
      <p:pic>
        <p:nvPicPr>
          <p:cNvPr id="100014" name="Picture 1" descr="Triángulo de la Tríada CIA: confidencialidad, integridad y disponibilida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4ec10980440c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675120" y="1554480"/>
            <a:ext cx="4754880" cy="3108960"/>
          </a:xfrm>
          <a:prstGeom xmlns:a="http://schemas.openxmlformats.org/drawingml/2006/main" prst="rect">
            <a:avLst/>
          </a:prstGeom>
        </p:spPr>
      </p:pic>
      <p:sp>
        <p:nvSpPr>
          <p:cNvPr id="100015" name="TextBox 4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16" name="Picture 2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3d18fa65541e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0" y="182880"/>
            <a:ext cx="1097280" cy="938575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 name="Malware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AMENAZAS TÉCNICAS  •  MALWARE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Malware: el bicho que ataca tus sistemas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548640" y="1554480"/>
            <a:ext cx="10972800" cy="3474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MALWARE: software malicioso que daña o toma control del sistema.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VIRUS: necesita que abras un archivo para activarse (Ej.: factura.xlsm).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GUSANO (worm): se propaga SOLO por la red, sin clic de nadie.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SPYWARE: espía en silencio y roba claves bancarias por semanas.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RANSOMWARE: cifra archivos críticos y exige rescate en dinero.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DoS / DDoS: inundan el servidor con tráfico falso hasta tumbarlo.</a:t>
            </a:r>
          </a:p>
        </p:txBody>
      </p:sp>
      <p:sp>
        <p:nvSpPr>
          <p:cNvPr id="100020" name="TextBox 4"/>
          <p:cNvSpPr txBox="1"/>
          <p:nvPr/>
        </p:nvSpPr>
        <p:spPr>
          <a:xfrm xmlns:a="http://schemas.openxmlformats.org/drawingml/2006/main">
            <a:off x="548640" y="557784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BBF24"/>
                </a:solidFill>
              </a:rPr>
              <a:t>Pregunta de clase: ¿qué diferencia al virus del gusano? (Ver Misión 2 en plataforma)</a:t>
            </a:r>
          </a:p>
        </p:txBody>
      </p:sp>
      <p:sp>
        <p:nvSpPr>
          <p:cNvPr id="100021" name="TextBox 5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22" name="Picture 1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b548583e7493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0" y="182880"/>
            <a:ext cx="1097280" cy="938575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 name="Ransomware DDoS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FOCO GERENCIAL  •  RANSOMWARE Y DDoS</a:t>
            </a:r>
          </a:p>
        </p:txBody>
      </p:sp>
      <p:sp>
        <p:nvSpPr>
          <p:cNvPr id="100024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El secuestro digital y la inundación</a:t>
            </a:r>
          </a:p>
        </p:txBody>
      </p:sp>
      <p:sp>
        <p:nvSpPr>
          <p:cNvPr id="100025" name="TextBox 3"/>
          <p:cNvSpPr txBox="1"/>
          <p:nvPr/>
        </p:nvSpPr>
        <p:spPr>
          <a:xfrm xmlns:a="http://schemas.openxmlformats.org/drawingml/2006/main">
            <a:off x="548640" y="1554480"/>
            <a:ext cx="566928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RANSOMWARE en 4 pasos: clic en DTE-pendiente.zip → cifra el servidor → piden Q30,000 en 48 h → el gerente decide: NO pagar y restaurar.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DDoS: miles de bots saturan tu tienda en quincena → 6 h sin vender ≈ Q18,000 perdidos.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Antídoto: backup cifrado externo + doble enlace + firewall.</a:t>
            </a:r>
          </a:p>
        </p:txBody>
      </p:sp>
      <p:pic>
        <p:nvPicPr>
          <p:cNvPr id="100026" name="Picture 1" descr="Pantalla de computador bloqueada por ransomwa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2703f7d17486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675120" y="1554480"/>
            <a:ext cx="4754880" cy="2743200"/>
          </a:xfrm>
          <a:prstGeom xmlns:a="http://schemas.openxmlformats.org/drawingml/2006/main" prst="rect">
            <a:avLst/>
          </a:prstGeom>
        </p:spPr>
      </p:pic>
      <p:sp>
        <p:nvSpPr>
          <p:cNvPr id="100027" name="TextBox 4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28" name="Picture 2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947ae7f2048d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0" y="182880"/>
            <a:ext cx="1097280" cy="938575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 name="Ingenieria social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29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AMENAZAS HUMANAS  •  INGENIERÍA SOCIAL</a:t>
            </a:r>
          </a:p>
        </p:txBody>
      </p:sp>
      <p:sp>
        <p:nvSpPr>
          <p:cNvPr id="100030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El eslabón más débil: las personas</a:t>
            </a:r>
          </a:p>
        </p:txBody>
      </p:sp>
      <p:sp>
        <p:nvSpPr>
          <p:cNvPr id="100031" name="TextBox 3"/>
          <p:cNvSpPr txBox="1"/>
          <p:nvPr/>
        </p:nvSpPr>
        <p:spPr>
          <a:xfrm xmlns:a="http://schemas.openxmlformats.org/drawingml/2006/main">
            <a:off x="548640" y="1554480"/>
            <a:ext cx="10972800" cy="3474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INGENIERÍA SOCIAL: manipulación psicológica para que TÚ entregues la clave.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PHISHING: mensajes falsos que suplantan a la SAT o a tu banco.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SPOOFING: falsifican remitente, SMS o dominio para parecer confiables.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ROBO DE IDENTIDAD: usan tus datos para cometer fraudes.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Regla de oro: verificar por OTRO canal (llamada a número conocido).</a:t>
            </a:r>
          </a:p>
        </p:txBody>
      </p:sp>
      <p:sp>
        <p:nvSpPr>
          <p:cNvPr id="100032" name="TextBox 4"/>
          <p:cNvSpPr txBox="1"/>
          <p:nvPr/>
        </p:nvSpPr>
        <p:spPr>
          <a:xfrm xmlns:a="http://schemas.openxmlformats.org/drawingml/2006/main">
            <a:off x="548640" y="557784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BBF24"/>
                </a:solidFill>
              </a:rPr>
              <a:t>Ejemplo real: te piden el código de 6 dígitos de WhatsApp. Jamás se comparte.</a:t>
            </a:r>
          </a:p>
        </p:txBody>
      </p:sp>
      <p:sp>
        <p:nvSpPr>
          <p:cNvPr id="100033" name="TextBox 5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34" name="Picture 1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f2079c302458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0" y="182880"/>
            <a:ext cx="1097280" cy="938575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 name="Casos GT 1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35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GUATEMALA  •  CASOS REALES (1/2)</a:t>
            </a:r>
          </a:p>
        </p:txBody>
      </p:sp>
      <p:sp>
        <p:nvSpPr>
          <p:cNvPr id="100036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WhatsApp y skimming: así operan aquí</a:t>
            </a:r>
          </a:p>
        </p:txBody>
      </p:sp>
      <p:sp>
        <p:nvSpPr>
          <p:cNvPr id="100037" name="TextBox 3"/>
          <p:cNvSpPr txBox="1"/>
          <p:nvPr/>
        </p:nvSpPr>
        <p:spPr>
          <a:xfrm xmlns:a="http://schemas.openxmlformats.org/drawingml/2006/main">
            <a:off x="548640" y="1554480"/>
            <a:ext cx="10972800" cy="3474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A. WHATSAPP: cuentas clonadas, familiar en el extranjero + encomienda en aduana, empleos por likes y robo del código de 6 dígitos.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B. SKIMMING: aparatos disimulados en la ranura del cajero + microcámara en el teclado. Zonas de riesgo: Zona 9, 10, 11 y centros comerciales.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Impacto: contracargos, pérdidas directas y clientes insatisfechos (POS y viáticos).</a:t>
            </a:r>
          </a:p>
        </p:txBody>
      </p:sp>
      <p:sp>
        <p:nvSpPr>
          <p:cNvPr id="100038" name="TextBox 4"/>
          <p:cNvSpPr txBox="1"/>
          <p:nvPr/>
        </p:nvSpPr>
        <p:spPr>
          <a:xfrm xmlns:a="http://schemas.openxmlformats.org/drawingml/2006/main">
            <a:off x="548640" y="557784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BBF24"/>
                </a:solidFill>
              </a:rPr>
              <a:t>Defensa: jalar la ranura, tapar el PIN, cajeros internos y alertas SMS.</a:t>
            </a:r>
          </a:p>
        </p:txBody>
      </p:sp>
      <p:sp>
        <p:nvSpPr>
          <p:cNvPr id="100039" name="TextBox 5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40" name="Picture 1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6d37589354e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0" y="182880"/>
            <a:ext cx="1097280" cy="938575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>
  <p:cSld name="Casos GT 2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GUATEMALA  •  CASOS REALES (2/2)</a:t>
            </a:r>
          </a:p>
        </p:txBody>
      </p:sp>
      <p:sp>
        <p:nvSpPr>
          <p:cNvPr id="100042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Falsos correos SAT y banca local</a:t>
            </a:r>
          </a:p>
        </p:txBody>
      </p:sp>
      <p:sp>
        <p:nvSpPr>
          <p:cNvPr id="100043" name="TextBox 3"/>
          <p:cNvSpPr txBox="1"/>
          <p:nvPr/>
        </p:nvSpPr>
        <p:spPr>
          <a:xfrm xmlns:a="http://schemas.openxmlformats.org/drawingml/2006/main">
            <a:off x="548640" y="1554480"/>
            <a:ext cx="566928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SAT falsa: omisos IVA/ISR y DTE pendientes de auditoría. El adjunto .zip descarga ransomware.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BANCA falsa: SU BANCA HA SIDO BLOQUEADA / actualice su token. El enlace abre un login idéntico (spoofing) y roba usuario + token.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Señales: urgencia + dominio raro + adjunto inesperado.</a:t>
            </a:r>
          </a:p>
        </p:txBody>
      </p:sp>
      <p:pic>
        <p:nvPicPr>
          <p:cNvPr id="100044" name="Picture 1" descr="Ejemplo ficticio de correo bancario de phishing con sus señal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03f838a774b6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0" y="1554480"/>
            <a:ext cx="4572000" cy="2926080"/>
          </a:xfrm>
          <a:prstGeom xmlns:a="http://schemas.openxmlformats.org/drawingml/2006/main" prst="rect">
            <a:avLst/>
          </a:prstGeom>
        </p:spPr>
      </p:pic>
      <p:sp>
        <p:nvSpPr>
          <p:cNvPr id="100045" name="TextBox 4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46" name="Picture 2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c36a1142c48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0" y="182880"/>
            <a:ext cx="1097280" cy="938575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>
  <p:cSld name="Administrador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47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TU ROL  •  IMPLICACIONES PARA EL ADMINISTRADOR</a:t>
            </a:r>
          </a:p>
        </p:txBody>
      </p:sp>
      <p:sp>
        <p:nvSpPr>
          <p:cNvPr id="100048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Lo que decide el administrador</a:t>
            </a:r>
          </a:p>
        </p:txBody>
      </p:sp>
      <p:sp>
        <p:nvSpPr>
          <p:cNvPr id="100049" name="TextBox 3"/>
          <p:cNvSpPr txBox="1"/>
          <p:nvPr/>
        </p:nvSpPr>
        <p:spPr>
          <a:xfrm xmlns:a="http://schemas.openxmlformats.org/drawingml/2006/main">
            <a:off x="548640" y="1554480"/>
            <a:ext cx="10972800" cy="36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COSTO DE LA INACCIÓN: las PYMES sufren interrupciones, pérdida de productividad y daño reputacional.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PUA + CAPACITACIÓN: ningún antivirus basta sin personas entrenadas. Simulacros anti-phishing cada trimestre.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• CULTURA DE RESPALDO: copias periódicas cifradas fuera de la empresa.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El número: 5 días parados (Q22,500) pagan casi 5 años de prevención (Q4,700/año).</a:t>
            </a:r>
          </a:p>
        </p:txBody>
      </p:sp>
      <p:sp>
        <p:nvSpPr>
          <p:cNvPr id="100050" name="TextBox 4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51" name="Picture 1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e373ecc054f6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0" y="182880"/>
            <a:ext cx="1097280" cy="938575"/>
          </a:xfrm>
          <a:prstGeom xmlns:a="http://schemas.openxmlformats.org/drawingml/2006/main" prst="rect">
            <a:avLst/>
          </a:prstGeom>
        </p:spPr>
      </p:pic>
    </p:spTree>
  </p:cSld>
</p:sld>
</file>

<file path=ppt/slides/slide10.xml><?xml version="1.0" encoding="utf-8"?>
<p:sld xmlns:p="http://schemas.openxmlformats.org/presentationml/2006/main">
  <p:cSld name="Cierre"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 txBox="1"/>
          <p:nvPr/>
        </p:nvSpPr>
        <p:spPr>
          <a:xfrm xmlns:a="http://schemas.openxmlformats.org/drawingml/2006/main">
            <a:off x="548640" y="22860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87171"/>
                </a:solidFill>
              </a:rPr>
              <a:t>CIERRE  •  DE LA CLASE A LA PLATAFORMA</a:t>
            </a:r>
          </a:p>
        </p:txBody>
      </p:sp>
      <p:sp>
        <p:nvSpPr>
          <p:cNvPr id="100053" name="TextBox 2"/>
          <p:cNvSpPr txBox="1"/>
          <p:nvPr/>
        </p:nvSpPr>
        <p:spPr>
          <a:xfrm xmlns:a="http://schemas.openxmlformats.org/drawingml/2006/main">
            <a:off x="548640" y="731520"/>
            <a:ext cx="109728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Repaso en CiberChapín + ejercicio en parejas</a:t>
            </a:r>
          </a:p>
        </p:txBody>
      </p:sp>
      <p:sp>
        <p:nvSpPr>
          <p:cNvPr id="100054" name="TextBox 3"/>
          <p:cNvSpPr txBox="1"/>
          <p:nvPr/>
        </p:nvSpPr>
        <p:spPr>
          <a:xfrm xmlns:a="http://schemas.openxmlformats.org/drawingml/2006/main">
            <a:off x="548640" y="1554480"/>
            <a:ext cx="10972800" cy="36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1. Repasa en plataforma: Tríada CIA, lab de malware, simulador DDoS, detector de fraudes, auditoría de cajero y anatomía del ransomware.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2. Ejercicio en parejas (Piloto + Copiloto): 4 casos GT con nombres, carnets y PDF para Canvas.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3. Prepárate: el parcial evalúa criterio gerencial, no memoria.</a:t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2E8F0"/>
                </a:solidFill>
              </a:rPr>
              <a:t>Créditos de imágenes: Wikimedia Commons (CIA triangle, ejemplo de phishing bancario, ransomware, ciberseguridad), licencias CC.</a:t>
            </a:r>
          </a:p>
        </p:txBody>
      </p:sp>
      <p:sp>
        <p:nvSpPr>
          <p:cNvPr id="100055" name="TextBox 4"/>
          <p:cNvSpPr txBox="1"/>
          <p:nvPr/>
        </p:nvSpPr>
        <p:spPr>
          <a:xfrm xmlns:a="http://schemas.openxmlformats.org/drawingml/2006/main">
            <a:off x="548640" y="630936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UMG  •  Informática I  •  Ruldin Ayala</a:t>
            </a:r>
          </a:p>
        </p:txBody>
      </p:sp>
      <p:pic>
        <p:nvPicPr>
          <p:cNvPr id="100056" name="Picture 1" descr="Logo U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4e0f6ad8a4c4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149840" y="182880"/>
            <a:ext cx="1463040" cy="1251433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2026-09-11T02:26:56Z</dcterms:created>
  <cp:lastModifiedBy>OfficeCLI</cp:lastModifiedBy>
  <dcterms:modified xsi:type="dcterms:W3CDTF">2026-09-11T02:26:56Z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1.0.149</vt:lpwstr>
  </op:property>
  <op:property fmtid="{D5CDD505-2E9C-101B-9397-08002B2CF9AE}" pid="3" name="OfficeCLI.LastModified">
    <vt:lpwstr xmlns:vt="http://schemas.openxmlformats.org/officeDocument/2006/docPropsVTypes">2026-09-11T02:27:02Z</vt:lpwstr>
  </op:property>
</op:Properties>
</file>