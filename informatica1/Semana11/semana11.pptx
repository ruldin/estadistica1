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jpg" ContentType="image/jpe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c86ef090118498c" /><Relationship Type="http://schemas.openxmlformats.org/package/2006/relationships/metadata/core-properties" Target="/docProps/core.xml" Id="Rb8289391a3f543f6" /><Relationship Type="http://schemas.openxmlformats.org/officeDocument/2006/relationships/extended-properties" Target="/docProps/app.xml" Id="Rf566e45ae97444f0" /><Relationship Type="http://schemas.openxmlformats.org/officeDocument/2006/relationships/custom-properties" Target="/docProps/custom.xml" Id="R9559b765417f481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74c783c05ea84667"/>
  </p:notesMasterIdLst>
  <p:sldIdLst>
    <p:sldId id="256" r:id="R8a58dfa213a2466e"/>
    <p:sldId id="257" r:id="R8db5a588309d47f6"/>
    <p:sldId id="258" r:id="R0d8207508beb409a"/>
    <p:sldId id="259" r:id="R30714d1311724ae9"/>
    <p:sldId id="260" r:id="R854d0c420c8444c9"/>
    <p:sldId id="261" r:id="Rcc53fce0632c48b6"/>
    <p:sldId id="262" r:id="R8b9982b85e39444b"/>
    <p:sldId id="263" r:id="R81965fb7e86f4980"/>
    <p:sldId id="264" r:id="R68b8beea5f7f4878"/>
    <p:sldId id="265" r:id="R00c0f1596e8b437e"/>
    <p:sldId id="266" r:id="R2399750c9ece4827"/>
    <p:sldId id="267" r:id="R883e4ca14f3947dc"/>
    <p:sldId id="268" r:id="Rf66a625bd10747f4"/>
    <p:sldId id="269" r:id="R268bca875b444f57"/>
    <p:sldId id="270" r:id="Rd17e4f63d24246ae"/>
    <p:sldId id="271" r:id="R5556194be6794cf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a58dfa213a2466e" /><Relationship Type="http://schemas.openxmlformats.org/officeDocument/2006/relationships/notesMaster" Target="/ppt/notesMasters/notesMaster1.xml" Id="R74c783c05ea84667" /><Relationship Type="http://schemas.openxmlformats.org/officeDocument/2006/relationships/slide" Target="/ppt/slides/slide2.xml" Id="R8db5a588309d47f6" /><Relationship Type="http://schemas.openxmlformats.org/officeDocument/2006/relationships/slide" Target="/ppt/slides/slide3.xml" Id="R0d8207508beb409a" /><Relationship Type="http://schemas.openxmlformats.org/officeDocument/2006/relationships/slide" Target="/ppt/slides/slide4.xml" Id="R30714d1311724ae9" /><Relationship Type="http://schemas.openxmlformats.org/officeDocument/2006/relationships/slide" Target="/ppt/slides/slide5.xml" Id="R854d0c420c8444c9" /><Relationship Type="http://schemas.openxmlformats.org/officeDocument/2006/relationships/slide" Target="/ppt/slides/slide6.xml" Id="Rcc53fce0632c48b6" /><Relationship Type="http://schemas.openxmlformats.org/officeDocument/2006/relationships/slide" Target="/ppt/slides/slide7.xml" Id="R8b9982b85e39444b" /><Relationship Type="http://schemas.openxmlformats.org/officeDocument/2006/relationships/slide" Target="/ppt/slides/slide8.xml" Id="R81965fb7e86f4980" /><Relationship Type="http://schemas.openxmlformats.org/officeDocument/2006/relationships/slide" Target="/ppt/slides/slide9.xml" Id="R68b8beea5f7f4878" /><Relationship Type="http://schemas.openxmlformats.org/officeDocument/2006/relationships/slide" Target="/ppt/slides/slide10.xml" Id="R00c0f1596e8b437e" /><Relationship Type="http://schemas.openxmlformats.org/officeDocument/2006/relationships/slide" Target="/ppt/slides/slide11.xml" Id="R2399750c9ece4827" /><Relationship Type="http://schemas.openxmlformats.org/officeDocument/2006/relationships/slide" Target="/ppt/slides/slide12.xml" Id="R883e4ca14f3947dc" /><Relationship Type="http://schemas.openxmlformats.org/officeDocument/2006/relationships/slide" Target="/ppt/slides/slide13.xml" Id="Rf66a625bd10747f4" /><Relationship Type="http://schemas.openxmlformats.org/officeDocument/2006/relationships/slide" Target="/ppt/slides/slide14.xml" Id="R268bca875b444f57" /><Relationship Type="http://schemas.openxmlformats.org/officeDocument/2006/relationships/slide" Target="/ppt/slides/slide15.xml" Id="Rd17e4f63d24246ae" /><Relationship Type="http://schemas.openxmlformats.org/officeDocument/2006/relationships/slide" Target="/ppt/slides/slide16.xml" Id="R5556194be6794c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32e375246a94abc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94abc43fdd54d80" /><Relationship Type="http://schemas.openxmlformats.org/officeDocument/2006/relationships/slide" Target="/ppt/slides/slide1.xml" Id="R2846c7de341d4e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4df8dda91b84991" /><Relationship Type="http://schemas.openxmlformats.org/officeDocument/2006/relationships/slide" Target="/ppt/slides/slide2.xml" Id="R3a3ff438d7e344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02e3822a8f54eca" /><Relationship Type="http://schemas.openxmlformats.org/officeDocument/2006/relationships/slide" Target="/ppt/slides/slide3.xml" Id="R7e4428f6afc744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82bb052e7d64ae7" /><Relationship Type="http://schemas.openxmlformats.org/officeDocument/2006/relationships/slide" Target="/ppt/slides/slide4.xml" Id="R65f9cc9af42b4b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1177d43fbcf4d33" /><Relationship Type="http://schemas.openxmlformats.org/officeDocument/2006/relationships/slide" Target="/ppt/slides/slide5.xml" Id="R0ab916bc91ed49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cf4506e8d7f42a1" /><Relationship Type="http://schemas.openxmlformats.org/officeDocument/2006/relationships/slide" Target="/ppt/slides/slide6.xml" Id="R1155a4d8f62a47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db14c92d8d84294" /><Relationship Type="http://schemas.openxmlformats.org/officeDocument/2006/relationships/slide" Target="/ppt/slides/slide7.xml" Id="Rd064efffa0b245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5a6f201ee8d4d77" /><Relationship Type="http://schemas.openxmlformats.org/officeDocument/2006/relationships/slide" Target="/ppt/slides/slide8.xml" Id="R3c9dc6ac087446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285131645a14e7a" /><Relationship Type="http://schemas.openxmlformats.org/officeDocument/2006/relationships/slide" Target="/ppt/slides/slide9.xml" Id="R1f68a2dd88b94a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9dc6aed60ae4627" /><Relationship Type="http://schemas.openxmlformats.org/officeDocument/2006/relationships/slide" Target="/ppt/slides/slide10.xml" Id="R688909ebe98747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7aafaf474254e71" /><Relationship Type="http://schemas.openxmlformats.org/officeDocument/2006/relationships/slide" Target="/ppt/slides/slide11.xml" Id="Rda76e3d0632744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20a1c5115ba403e" /><Relationship Type="http://schemas.openxmlformats.org/officeDocument/2006/relationships/slide" Target="/ppt/slides/slide12.xml" Id="R83bfc593957a46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a54f69d6d0a459c" /><Relationship Type="http://schemas.openxmlformats.org/officeDocument/2006/relationships/slide" Target="/ppt/slides/slide13.xml" Id="Rd81d3848f3584c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7117ddbc830457f" /><Relationship Type="http://schemas.openxmlformats.org/officeDocument/2006/relationships/slide" Target="/ppt/slides/slide14.xml" Id="R44895fc0d6a745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df4ae34049749b2" /><Relationship Type="http://schemas.openxmlformats.org/officeDocument/2006/relationships/slide" Target="/ppt/slides/slide15.xml" Id="R2d0bd5dfa7c0424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ef886acb3d34534" /><Relationship Type="http://schemas.openxmlformats.org/officeDocument/2006/relationships/slide" Target="/ppt/slides/slide16.xml" Id="R4c24d0ac612146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Bienvenida (2 min). Objetivo: que el futuro administrador entienda las HERRAMIENTAS que garantizan confidencialidad, integridad y disponibilidad, y la protección de datos personales. Todo lo de hoy sale de los Caps. 8 y 9 del libro, sin agregar teoría externa. Anuncie el flujo: primero conceptos con ejemplos del libro, luego 4 casos guatemaltecos, y después trabajan en la página Semana 11 (misiones interactivas + ejercicio en parejas de 40 min con PDF para Canvas + tarea Silla del Gerente).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Muestre el mapa y respete los tiempos: 30 min de conceptos (diapos 3 a 12), 15 min de casos (diapo 13), y a la página (diapo 14 explica las misiones y el ejercicio). Piloto propone, copiloto cuestiona; alternan por caso. Cierre con la tarea individual (diapo 15).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Arranque conceptual (3 min). El libro dice: las herramientas garantizan confidencialidad (quién puede ver), integridad (que siga intacto) y disponibilidad (accesible cuando se necesita). Y se agrupan en 3 familias: autenticación verifica, prevención bloquea, detección alerta. Pregunte: si la tienda en línea se cae en quincena, ¿qué pilar falló? (Disponibilidad). En la página, Misión 1 repite este mapa con tarjetas tocables.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Desarrolle cada factor con el ejemplo literal del libro: lo que se sabe son datos memorizados (contraseñas, PIN, preguntas fuera del monedero OOW); lo que se posee son identificadores físicos o digitales (tarjetas, llaves, tokens RSA SecurID que generan códigos temporales); lo que se es es biometría (retina, huellas, rostro). Enfatice: dos contraseñas NO son dos factores. En la página, Misión 2 trae el laboratorio de fortaleza de contraseña.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Idea central (2 min): el libro advierte que un solo factor se vulnera fácil; por eso MFA exige dos o más factores de DISTINTAS categorías. Ejemplo textual: PIN memorizado + código cambiante del token físico. Conecte con el caso A de hoy (cooperativa que operaba solo con contraseña y perdió Q18,500). En la página, Misión 3 son los engranajes: prueban entrar solo con clave (el atacante pasa) y con token (se queda fuera).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Explique con el contraste del libro (3 min): ACL asigna permiso por individuo y recurso — funciona en 5 personas, colapsa en 25 (caso B del retail: 200 reglas y un ex-empleado que siguió entrando). RBAC asigna derechos a roles organizacionales y vincula empleados a roles — el gerente administra 4 roles, no 200 permisos. En la página, Misión 4 tiene el slider: con 40 empleados la ACL pide 320 reglas y RBAC unas 48.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Definición del libro (2 min): el cifrado altera la estructura de los datos. Simétrico = una única clave compartida para ambas operaciones (rápido, pero ¿cómo la comparto sin exponerla?). Asimétrico = par de claves: la pública se distribuye abiertamente para codificar y la privada queda solo en el destinatario para descifrar (base de banca y facturación electrónica). En la página, Misión 5 cifra en vivo el mensaje del gerente en ambos modos.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Tres definiciones del libro (3 min): firewall = inspecciona entrante/saliente y bloquea lo que viola reglas; VPN = túnel cifrado por internet para que el remoto entre seguro a la intranet sobrepasando el firewall; antivirus = neutraliza malware en PCs y servidores. Ojo gerente: el firewall de la oficina NO ve el WiFi del café — por eso el caso C (vendedor espiado, pedido de Q22,000 perdido) exige VPN + cifrado. En la página, Misión 6 trae mini-firewall jugable y túnel VPN animado.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Los 4 elementos del libro, en orden (3 min): copias periódicas + guardadas FUERA del local (offsite, contra incendio/robo) + pruebas de restauración que verifiquen que el respaldo sirve + infraestructura de continuidad (UPS, sitios en caliente, SAN). Regla de oro: un backup conectado al mismo servidor y jamás probado NO es respaldo — es el error del caso D (clínica, rescate Q24,000) y de la tarea (hotel de Antigua). En la página, Misión 7 es el checklist del ciclo.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Dos caras de detectar (2 min). IDS: el libro lo define como inspección del tráfico en tiempo real que identifica patrones sospechosos o violaciones activas y alerta — sin IDS, el robo dura semanas invisible (en el caso D el IDS alertó a las 2 a.m. y nadie miró). Física: puertas, sensores de intrusión, ambiente (temperatura/humedad) y vigilancia del hardware. En la página, Misión 8 es el radar que se enciende.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El factor humano (3 min). El libro es tajante: sin reglas administrativas claras, la técnica es ineficaz. Política de seguridad = directrices + sanciones. PUA = acuerdo explícito permitido/prohibido, con las 3 prohibiciones textuales: compartir credenciales, alojar proyectos personales, enviar masivos no autorizados. Y el equilibrio gerente: controles tan estrictos que estorban empujan workarounds informales (Shadow IT) con mayor riesgo. En la página, Misión 9 trae tarjetas PUA y la balanza de rigor.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Privacidad según el libro (2 min): la capacidad de controlar la información sobre sí mismo. La PII a resguardar es textual: nombres y DPI/CUI; fechas de nacimiento y biometría; expedientes médicos, laborales y datos financieros/bancarios. Pregunte: ¿un Excel con planilla + cuentas en carpeta compartida es PII? (Sí, crítica). En la página, Misión 10 es el clasificador ¿es PII o no? con trampa pedagógica.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Cierre teórico (3 min). Principios de información justa, textuales: consentimiento e identificación de propósitos antes de recolectar; recopilación y uso limitado (solo lo necesario, sin reúso sin permiso); salvaguardas proporcionales a la sensibilidad. Buenas prácticas del libro — empresa: plan de respuesta, parches, cifrar portátiles/BD, nube segura, capacitación continua; persona: contraseñas largas/complejas/únicas, rotarlas, 2FA y escepticismo ante correos y enlaces. Con esto termina la teoría; ahora los casos.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Puente a la práctica (10–15 min). Presente los 4 casos SIN resolverlos: A = falta de MFA (¿por qué la clave sola no bastó?); B = ACL sin gobierno (¿por qué RBAC lo ordena?); C = remoto sin VPN/cifrado (¿por qué el firewall no lo vio?); D = PII sin control + backup falso (¿por qué ese disco no era 3-2-1?). Pida que anoten hipótesis de herramienta + pilar CIA. La solución y los números los trabajan en la página con su pareja.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Logística (3 min). Indique la ruta exacta del archivo y que primero jueguen las 10 misiones (ganan XP) y luego abran el ejercicio: registran piloto + copiloto, activan alternar roles, investigan backup 3-2-1 y MFA en banca GT, resuelven A–D con pérdida vs prevención en quetzales, consultan al Mentor IA con su API Key (si falla, continúan igual), y generan el PDF de parejas. La tarea individual del hotel queda de entrega en Canvas.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Cierre (2 min). Repase el checklist en voz alta y deje la idea gerente del libro: las medidas no deben obstaculizar el trabajo diario, o el usuario las elude. Recuerde entregas: PDF de parejas hoy (Apellidos_Carnets_Sem11.pdf) y tarea Silla del Gerente S11 en Canvas. Agradezca y despida a trabajar en la página.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63ddd1a2849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f43176cb0f49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6868c2b1644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aafeb640424d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43f40e65543d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853aba04e0e42e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c37326962474f" /><Relationship Type="http://schemas.openxmlformats.org/officeDocument/2006/relationships/notesSlide" Target="/ppt/notesSlides/notesSlide1.xml" Id="R97fd02e1e3e343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235ae95e34b61" /><Relationship Type="http://schemas.openxmlformats.org/officeDocument/2006/relationships/notesSlide" Target="/ppt/notesSlides/notesSlide2.xml" Id="R7e6982fa1dc64f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da12515c349d5" /><Relationship Type="http://schemas.openxmlformats.org/officeDocument/2006/relationships/image" Target="/ppt/media/image.jpg" Id="R42da0e5565ea439d" /><Relationship Type="http://schemas.openxmlformats.org/officeDocument/2006/relationships/notesSlide" Target="/ppt/notesSlides/notesSlide3.xml" Id="R0aa6cedadebc45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edc4053154990" /><Relationship Type="http://schemas.openxmlformats.org/officeDocument/2006/relationships/image" Target="/ppt/media/image2.jpg" Id="Rc6263fd349f84f21" /><Relationship Type="http://schemas.openxmlformats.org/officeDocument/2006/relationships/notesSlide" Target="/ppt/notesSlides/notesSlide4.xml" Id="R069c4e8bb90d42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cb80413c44827" /><Relationship Type="http://schemas.openxmlformats.org/officeDocument/2006/relationships/image" Target="/ppt/media/image3.jpg" Id="R29f9cf77ab7d4826" /><Relationship Type="http://schemas.openxmlformats.org/officeDocument/2006/relationships/notesSlide" Target="/ppt/notesSlides/notesSlide5.xml" Id="Re9bef023b18e4d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6bbde6fc248e2" /><Relationship Type="http://schemas.openxmlformats.org/officeDocument/2006/relationships/image" Target="/ppt/media/image4.jpg" Id="Ra941eb3743d6435a" /><Relationship Type="http://schemas.openxmlformats.org/officeDocument/2006/relationships/notesSlide" Target="/ppt/notesSlides/notesSlide6.xml" Id="R218f14e477b444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787d978b34028" /><Relationship Type="http://schemas.openxmlformats.org/officeDocument/2006/relationships/image" Target="/ppt/media/image5.jpg" Id="Rec22ef0ddf3c431e" /><Relationship Type="http://schemas.openxmlformats.org/officeDocument/2006/relationships/notesSlide" Target="/ppt/notesSlides/notesSlide7.xml" Id="Rd1c7dec16a2041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7e5ac0b3c433d" /><Relationship Type="http://schemas.openxmlformats.org/officeDocument/2006/relationships/image" Target="/ppt/media/image6.jpg" Id="Rf7d73dde80bd4b5b" /><Relationship Type="http://schemas.openxmlformats.org/officeDocument/2006/relationships/notesSlide" Target="/ppt/notesSlides/notesSlide8.xml" Id="R0289494cdddb45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649eddbc54d06" /><Relationship Type="http://schemas.openxmlformats.org/officeDocument/2006/relationships/image" Target="/ppt/media/image7.jpg" Id="R9b08edd4ee874a8f" /><Relationship Type="http://schemas.openxmlformats.org/officeDocument/2006/relationships/notesSlide" Target="/ppt/notesSlides/notesSlide9.xml" Id="Ra42d8a49f65647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1b710b1104359" /><Relationship Type="http://schemas.openxmlformats.org/officeDocument/2006/relationships/image" Target="/ppt/media/image8.jpg" Id="R73150db89f6c437c" /><Relationship Type="http://schemas.openxmlformats.org/officeDocument/2006/relationships/notesSlide" Target="/ppt/notesSlides/notesSlide10.xml" Id="R3460da919e5842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07cc440224e1b" /><Relationship Type="http://schemas.openxmlformats.org/officeDocument/2006/relationships/image" Target="/ppt/media/image9.jpg" Id="R11175e49dc474a85" /><Relationship Type="http://schemas.openxmlformats.org/officeDocument/2006/relationships/notesSlide" Target="/ppt/notesSlides/notesSlide11.xml" Id="Ra40eee90e48a48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cd3d1c7bd460b" /><Relationship Type="http://schemas.openxmlformats.org/officeDocument/2006/relationships/image" Target="/ppt/media/image10.jpg" Id="R69747533778c46e2" /><Relationship Type="http://schemas.openxmlformats.org/officeDocument/2006/relationships/notesSlide" Target="/ppt/notesSlides/notesSlide12.xml" Id="Rbcc6283bf08e49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54d88893b408a" /><Relationship Type="http://schemas.openxmlformats.org/officeDocument/2006/relationships/image" Target="/ppt/media/image11.jpg" Id="R4b4dd48cc5ff4f82" /><Relationship Type="http://schemas.openxmlformats.org/officeDocument/2006/relationships/notesSlide" Target="/ppt/notesSlides/notesSlide13.xml" Id="R88dad6d1daba4f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986a67c524602" /><Relationship Type="http://schemas.openxmlformats.org/officeDocument/2006/relationships/notesSlide" Target="/ppt/notesSlides/notesSlide14.xml" Id="Read58b24e8af4d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eadf52ac040a3" /><Relationship Type="http://schemas.openxmlformats.org/officeDocument/2006/relationships/notesSlide" Target="/ppt/notesSlides/notesSlide15.xml" Id="R0aad2c25697641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bc6fe7f5e410f" /><Relationship Type="http://schemas.openxmlformats.org/officeDocument/2006/relationships/notesSlide" Target="/ppt/notesSlides/notesSlide16.xml" Id="R5e4f8cfe791e4a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00" name="TopBand"/>
          <p:cNvSpPr/>
          <p:nvPr/>
        </p:nvSpPr>
        <p:spPr>
          <a:xfrm xmlns:a="http://schemas.openxmlformats.org/drawingml/2006/main">
            <a:off x="0" y="0"/>
            <a:ext cx="12193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Kicker"/>
          <p:cNvSpPr txBox="1"/>
          <p:nvPr/>
        </p:nvSpPr>
        <p:spPr>
          <a:xfrm xmlns:a="http://schemas.openxmlformats.org/drawingml/2006/main">
            <a:off x="457200" y="504000"/>
            <a:ext cx="11268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CA5A5"/>
                </a:solidFill>
                <a:latin typeface="Calibri"/>
                <a:ea typeface="Calibri"/>
              </a:rPr>
              <a:t>UMG · INFORMÁTICA I · SEMANA 11 · CAPS. 8 Y 9</a:t>
            </a:r>
          </a:p>
        </p:txBody>
      </p:sp>
      <p:sp>
        <p:nvSpPr>
          <p:cNvPr id="100002" name="Title"/>
          <p:cNvSpPr txBox="1"/>
          <p:nvPr/>
        </p:nvSpPr>
        <p:spPr>
          <a:xfrm xmlns:a="http://schemas.openxmlformats.org/drawingml/2006/main">
            <a:off x="457200" y="1008000"/>
            <a:ext cx="112680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Trebuchet MS"/>
                <a:ea typeface="Trebuchet MS"/>
              </a:rPr>
              <a:t>Herramientas de seguridad</a:t>
            </a:r>
          </a:p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Trebuchet MS"/>
                <a:ea typeface="Trebuchet MS"/>
              </a:rPr>
              <a:t>y privacidad de datos</a:t>
            </a:r>
          </a:p>
        </p:txBody>
      </p:sp>
      <p:sp>
        <p:nvSpPr>
          <p:cNvPr id="100003" name="Sub"/>
          <p:cNvSpPr txBox="1"/>
          <p:nvPr/>
        </p:nvSpPr>
        <p:spPr>
          <a:xfrm xmlns:a="http://schemas.openxmlformats.org/drawingml/2006/main">
            <a:off x="457200" y="2736000"/>
            <a:ext cx="1126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>
                <a:solidFill>
                  <a:srgbClr val="CADCFC"/>
                </a:solidFill>
                <a:latin typeface="Calibri"/>
                <a:ea typeface="Calibri"/>
              </a:rPr>
              <a:t>De la contraseña al DPI: el blindaje que protege sin frenar el negocio</a:t>
            </a:r>
          </a:p>
        </p:txBody>
      </p:sp>
      <p:sp>
        <p:nvSpPr>
          <p:cNvPr id="100004" name="Meta"/>
          <p:cNvSpPr txBox="1"/>
          <p:nvPr/>
        </p:nvSpPr>
        <p:spPr>
          <a:xfrm xmlns:a="http://schemas.openxmlformats.org/drawingml/2006/main">
            <a:off x="457200" y="3456000"/>
            <a:ext cx="11268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94A3B8"/>
                </a:solidFill>
                <a:latin typeface="Calibri"/>
                <a:ea typeface="Calibri"/>
              </a:rPr>
              <a:t>Prof. Ruldin Ayala · Administración de Empresas · 2026</a:t>
            </a:r>
          </a:p>
        </p:txBody>
      </p:sp>
      <p:sp>
        <p:nvSpPr>
          <p:cNvPr id="100005" name="Strap"/>
          <p:cNvSpPr/>
          <p:nvPr/>
        </p:nvSpPr>
        <p:spPr>
          <a:xfrm xmlns:a="http://schemas.openxmlformats.org/drawingml/2006/main">
            <a:off x="2700000" y="4032000"/>
            <a:ext cx="6793200" cy="93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DE68A"/>
                </a:solidFill>
                <a:latin typeface="Calibri"/>
                <a:ea typeface="Calibri"/>
              </a:rPr>
              <a:t>Hoy: conceptos (30 min)  →  casos (15 min)  →  página + parejas 40 min</a:t>
            </a:r>
          </a:p>
        </p:txBody>
      </p:sp>
      <p:sp>
        <p:nvSpPr>
          <p:cNvPr id="100006" name="Footer"/>
          <p:cNvSpPr txBox="1"/>
          <p:nvPr/>
        </p:nvSpPr>
        <p:spPr>
          <a:xfrm xmlns:a="http://schemas.openxmlformats.org/drawingml/2006/main">
            <a:off x="457200" y="6228000"/>
            <a:ext cx="11268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64748B"/>
                </a:solidFill>
                <a:latin typeface="Calibri"/>
                <a:ea typeface="Calibri"/>
              </a:rPr>
              <a:t>Guía estricta Caps. 8–9 del libro · Montos en quetzales con fin didáctico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07" name="TopBand"/>
          <p:cNvSpPr/>
          <p:nvPr/>
        </p:nvSpPr>
        <p:spPr>
          <a:xfrm xmlns:a="http://schemas.openxmlformats.org/drawingml/2006/main">
            <a:off x="0" y="0"/>
            <a:ext cx="12193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8" name="Title"/>
          <p:cNvSpPr txBox="1"/>
          <p:nvPr/>
        </p:nvSpPr>
        <p:spPr>
          <a:xfrm xmlns:a="http://schemas.openxmlformats.org/drawingml/2006/main">
            <a:off x="457200" y="468000"/>
            <a:ext cx="1126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Trebuchet MS"/>
                <a:ea typeface="Trebuchet MS"/>
              </a:rPr>
              <a:t>Flujo de la clase de hoy</a:t>
            </a:r>
          </a:p>
        </p:txBody>
      </p:sp>
      <p:sp>
        <p:nvSpPr>
          <p:cNvPr id="100009" name="Step1"/>
          <p:cNvSpPr/>
          <p:nvPr/>
        </p:nvSpPr>
        <p:spPr>
          <a:xfrm xmlns:a="http://schemas.openxmlformats.org/drawingml/2006/main">
            <a:off x="457200" y="1512000"/>
            <a:ext cx="3456000" cy="30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1 · CONCEPTOS</a:t>
            </a:r>
          </a:p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(30 min)</a:t>
            </a:r>
          </a:p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Autenticación, MFA, ACL/RBAC, cifrado, firewall/VPN, backups, IDS, PUA, PII.</a:t>
            </a:r>
          </a:p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Todo del libro, con ejemplo del texto.</a:t>
            </a:r>
          </a:p>
        </p:txBody>
      </p:sp>
      <p:sp>
        <p:nvSpPr>
          <p:cNvPr id="100010" name="Step2"/>
          <p:cNvSpPr/>
          <p:nvPr/>
        </p:nvSpPr>
        <p:spPr>
          <a:xfrm xmlns:a="http://schemas.openxmlformats.org/drawingml/2006/main">
            <a:off x="4370400" y="1512000"/>
            <a:ext cx="3456000" cy="30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2 · CASOS GT</a:t>
            </a:r>
          </a:p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(15 min)</a:t>
            </a:r>
          </a:p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Cooperativa, retail, distribuidora y clínica: ¿qué herramienta falló y cuánto cuesta?</a:t>
            </a:r>
          </a:p>
        </p:txBody>
      </p:sp>
      <p:sp>
        <p:nvSpPr>
          <p:cNvPr id="100011" name="Step3"/>
          <p:cNvSpPr/>
          <p:nvPr/>
        </p:nvSpPr>
        <p:spPr>
          <a:xfrm xmlns:a="http://schemas.openxmlformats.org/drawingml/2006/main">
            <a:off x="8280000" y="1512000"/>
            <a:ext cx="3456000" cy="30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F1D1D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3 · PÁGINA S11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(40 min parejas)</a:t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10 misiones interactivas + 4 casos piloto/copiloto + PDF Canvas + tarea individual.</a:t>
            </a:r>
          </a:p>
        </p:txBody>
      </p:sp>
      <p:sp>
        <p:nvSpPr>
          <p:cNvPr id="100012" name="Footer"/>
          <p:cNvSpPr txBox="1"/>
          <p:nvPr/>
        </p:nvSpPr>
        <p:spPr>
          <a:xfrm xmlns:a="http://schemas.openxmlformats.org/drawingml/2006/main">
            <a:off x="457200" y="6228000"/>
            <a:ext cx="11268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64748B"/>
                </a:solidFill>
                <a:latin typeface="Calibri"/>
                <a:ea typeface="Calibri"/>
              </a:rPr>
              <a:t>Semana 11 · EscudoGerencial UMG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13" name="TopBand"/>
          <p:cNvSpPr/>
          <p:nvPr/>
        </p:nvSpPr>
        <p:spPr>
          <a:xfrm xmlns:a="http://schemas.openxmlformats.org/drawingml/2006/main">
            <a:off x="0" y="0"/>
            <a:ext cx="12193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4" name="Title"/>
          <p:cNvSpPr txBox="1"/>
          <p:nvPr/>
        </p:nvSpPr>
        <p:spPr>
          <a:xfrm xmlns:a="http://schemas.openxmlformats.org/drawingml/2006/main">
            <a:off x="457200" y="468000"/>
            <a:ext cx="1126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Trebuchet MS"/>
                <a:ea typeface="Trebuchet MS"/>
              </a:rPr>
              <a:t>El ecosistema: proteger los datos</a:t>
            </a:r>
          </a:p>
        </p:txBody>
      </p:sp>
      <p:sp>
        <p:nvSpPr>
          <p:cNvPr id="100015" name="Ctx"/>
          <p:cNvSpPr txBox="1"/>
          <p:nvPr/>
        </p:nvSpPr>
        <p:spPr>
          <a:xfrm xmlns:a="http://schemas.openxmlformats.org/drawingml/2006/main">
            <a:off x="457200" y="1116000"/>
            <a:ext cx="11268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ADCFC"/>
                </a:solidFill>
                <a:latin typeface="Calibri"/>
                <a:ea typeface="Calibri"/>
              </a:rPr>
              <a:t>Objetivo del libro: confidencialidad + integridad + disponibilidad</a:t>
            </a:r>
          </a:p>
        </p:txBody>
      </p:sp>
      <p:sp>
        <p:nvSpPr>
          <p:cNvPr id="100016" name="Body"/>
          <p:cNvSpPr txBox="1"/>
          <p:nvPr/>
        </p:nvSpPr>
        <p:spPr>
          <a:xfrm xmlns:a="http://schemas.openxmlformats.org/drawingml/2006/main">
            <a:off x="457200" y="1620000"/>
            <a:ext cx="5508000" cy="39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AUTENTICACIÓN: verificar identidades.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PREVENCIÓN: bloquear accesos no autorizados e interrupciones.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DETECCIÓN: identificar y alertar patrones sospechosos.</a:t>
            </a:r>
          </a:p>
        </p:txBody>
      </p:sp>
      <p:pic>
        <p:nvPicPr>
          <p:cNvPr id="100017" name="Picture 1" descr="Ecosistema de seguridad: autenticacion, prevencion y deteccion alrededor de proteger los dato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a0e5565ea439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336000" y="1728000"/>
            <a:ext cx="5220000" cy="2916000"/>
          </a:xfrm>
          <a:prstGeom xmlns:a="http://schemas.openxmlformats.org/drawingml/2006/main" prst="rect">
            <a:avLst/>
          </a:prstGeom>
        </p:spPr>
      </p:pic>
      <p:sp>
        <p:nvSpPr>
          <p:cNvPr id="100018" name="Footer"/>
          <p:cNvSpPr txBox="1"/>
          <p:nvPr/>
        </p:nvSpPr>
        <p:spPr>
          <a:xfrm xmlns:a="http://schemas.openxmlformats.org/drawingml/2006/main">
            <a:off x="457200" y="6228000"/>
            <a:ext cx="11268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64748B"/>
                </a:solidFill>
                <a:latin typeface="Calibri"/>
                <a:ea typeface="Calibri"/>
              </a:rPr>
              <a:t>Cap. 8 · Figura: Estrategia de Seguridad Digital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19" name="TopBand"/>
          <p:cNvSpPr/>
          <p:nvPr/>
        </p:nvSpPr>
        <p:spPr>
          <a:xfrm xmlns:a="http://schemas.openxmlformats.org/drawingml/2006/main">
            <a:off x="0" y="0"/>
            <a:ext cx="12193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0" name="Title"/>
          <p:cNvSpPr txBox="1"/>
          <p:nvPr/>
        </p:nvSpPr>
        <p:spPr>
          <a:xfrm xmlns:a="http://schemas.openxmlformats.org/drawingml/2006/main">
            <a:off x="457200" y="468000"/>
            <a:ext cx="1126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Trebuchet MS"/>
                <a:ea typeface="Trebuchet MS"/>
              </a:rPr>
              <a:t>Autenticación: tres factores</a:t>
            </a:r>
          </a:p>
        </p:txBody>
      </p:sp>
      <p:sp>
        <p:nvSpPr>
          <p:cNvPr id="100021" name="Ctx"/>
          <p:cNvSpPr txBox="1"/>
          <p:nvPr/>
        </p:nvSpPr>
        <p:spPr>
          <a:xfrm xmlns:a="http://schemas.openxmlformats.org/drawingml/2006/main">
            <a:off x="457200" y="1116000"/>
            <a:ext cx="11268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ADCFC"/>
                </a:solidFill>
                <a:latin typeface="Calibri"/>
                <a:ea typeface="Calibri"/>
              </a:rPr>
              <a:t>Asegura que quien accede sea quien afirma ser</a:t>
            </a:r>
          </a:p>
        </p:txBody>
      </p:sp>
      <p:sp>
        <p:nvSpPr>
          <p:cNvPr id="100022" name="Body"/>
          <p:cNvSpPr txBox="1"/>
          <p:nvPr/>
        </p:nvSpPr>
        <p:spPr>
          <a:xfrm xmlns:a="http://schemas.openxmlformats.org/drawingml/2006/main">
            <a:off x="457200" y="1620000"/>
            <a:ext cx="5508000" cy="39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1 · ALGO QUE SE SABE: usuarios, contraseñas, PIN, preguntas OOW.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2 · ALGO QUE SE POSEE: tarjetas, llaves, tokens RSA de código dinámico.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3 · ALGO QUE SE ES: retina, huellas, geometría facial.</a:t>
            </a:r>
          </a:p>
        </p:txBody>
      </p:sp>
      <p:pic>
        <p:nvPicPr>
          <p:cNvPr id="100023" name="Picture 1" descr="Tres factores de autenticacion: lo que se sabe, se posee y se 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63fd349f84f2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336000" y="1728000"/>
            <a:ext cx="5220000" cy="2916000"/>
          </a:xfrm>
          <a:prstGeom xmlns:a="http://schemas.openxmlformats.org/drawingml/2006/main" prst="rect">
            <a:avLst/>
          </a:prstGeom>
        </p:spPr>
      </p:pic>
      <p:sp>
        <p:nvSpPr>
          <p:cNvPr id="100024" name="Footer"/>
          <p:cNvSpPr txBox="1"/>
          <p:nvPr/>
        </p:nvSpPr>
        <p:spPr>
          <a:xfrm xmlns:a="http://schemas.openxmlformats.org/drawingml/2006/main">
            <a:off x="457200" y="6228000"/>
            <a:ext cx="11268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64748B"/>
                </a:solidFill>
                <a:latin typeface="Calibri"/>
                <a:ea typeface="Calibri"/>
              </a:rPr>
              <a:t>Cap. 8.4 · Figura: Estrategia de Seguridad Digital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25" name="TopBand"/>
          <p:cNvSpPr/>
          <p:nvPr/>
        </p:nvSpPr>
        <p:spPr>
          <a:xfrm xmlns:a="http://schemas.openxmlformats.org/drawingml/2006/main">
            <a:off x="0" y="0"/>
            <a:ext cx="12193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6" name="Title"/>
          <p:cNvSpPr txBox="1"/>
          <p:nvPr/>
        </p:nvSpPr>
        <p:spPr>
          <a:xfrm xmlns:a="http://schemas.openxmlformats.org/drawingml/2006/main">
            <a:off x="457200" y="468000"/>
            <a:ext cx="1126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Trebuchet MS"/>
                <a:ea typeface="Trebuchet MS"/>
              </a:rPr>
              <a:t>MFA: un factor se vulnera</a:t>
            </a:r>
          </a:p>
        </p:txBody>
      </p:sp>
      <p:sp>
        <p:nvSpPr>
          <p:cNvPr id="100027" name="Ctx"/>
          <p:cNvSpPr txBox="1"/>
          <p:nvPr/>
        </p:nvSpPr>
        <p:spPr>
          <a:xfrm xmlns:a="http://schemas.openxmlformats.org/drawingml/2006/main">
            <a:off x="457200" y="1116000"/>
            <a:ext cx="11268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ADCFC"/>
                </a:solidFill>
                <a:latin typeface="Calibri"/>
                <a:ea typeface="Calibri"/>
              </a:rPr>
              <a:t>La autenticación multifactorial exige 2+ factores de distintas categorías</a:t>
            </a:r>
          </a:p>
        </p:txBody>
      </p:sp>
      <p:sp>
        <p:nvSpPr>
          <p:cNvPr id="100028" name="Body"/>
          <p:cNvSpPr txBox="1"/>
          <p:nvPr/>
        </p:nvSpPr>
        <p:spPr>
          <a:xfrm xmlns:a="http://schemas.openxmlformats.org/drawingml/2006/main">
            <a:off x="457200" y="1620000"/>
            <a:ext cx="5508000" cy="39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Una sola contraseña es fácil de vulnerar.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MFA combina categorías distintas.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Ejemplo del libro: PIN memorizado (sabe) + código del token físico (posee).</a:t>
            </a:r>
          </a:p>
        </p:txBody>
      </p:sp>
      <p:pic>
        <p:nvPicPr>
          <p:cNvPr id="100029" name="Picture 1" descr="MFA: contrasena vulnerada frente a token fisico requerido, doble engranaj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9cf77ab7d482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336000" y="1728000"/>
            <a:ext cx="5220000" cy="2916000"/>
          </a:xfrm>
          <a:prstGeom xmlns:a="http://schemas.openxmlformats.org/drawingml/2006/main" prst="rect">
            <a:avLst/>
          </a:prstGeom>
        </p:spPr>
      </p:pic>
      <p:sp>
        <p:nvSpPr>
          <p:cNvPr id="100030" name="Footer"/>
          <p:cNvSpPr txBox="1"/>
          <p:nvPr/>
        </p:nvSpPr>
        <p:spPr>
          <a:xfrm xmlns:a="http://schemas.openxmlformats.org/drawingml/2006/main">
            <a:off x="457200" y="6228000"/>
            <a:ext cx="11268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64748B"/>
                </a:solidFill>
                <a:latin typeface="Calibri"/>
                <a:ea typeface="Calibri"/>
              </a:rPr>
              <a:t>Cap. 8.4 · Figura: Estrategia de Seguridad Digital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31" name="TopBand"/>
          <p:cNvSpPr/>
          <p:nvPr/>
        </p:nvSpPr>
        <p:spPr>
          <a:xfrm xmlns:a="http://schemas.openxmlformats.org/drawingml/2006/main">
            <a:off x="0" y="0"/>
            <a:ext cx="12193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2" name="Title"/>
          <p:cNvSpPr txBox="1"/>
          <p:nvPr/>
        </p:nvSpPr>
        <p:spPr>
          <a:xfrm xmlns:a="http://schemas.openxmlformats.org/drawingml/2006/main">
            <a:off x="457200" y="468000"/>
            <a:ext cx="1126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Trebuchet MS"/>
                <a:ea typeface="Trebuchet MS"/>
              </a:rPr>
              <a:t>Controles de acceso: ACL vs RBAC</a:t>
            </a:r>
          </a:p>
        </p:txBody>
      </p:sp>
      <p:sp>
        <p:nvSpPr>
          <p:cNvPr id="100033" name="Ctx"/>
          <p:cNvSpPr txBox="1"/>
          <p:nvPr/>
        </p:nvSpPr>
        <p:spPr>
          <a:xfrm xmlns:a="http://schemas.openxmlformats.org/drawingml/2006/main">
            <a:off x="457200" y="1116000"/>
            <a:ext cx="11268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ADCFC"/>
                </a:solidFill>
                <a:latin typeface="Calibri"/>
                <a:ea typeface="Calibri"/>
              </a:rPr>
              <a:t>Autenticado el usuario, definen privilegios: leer, escribir, agregar, eliminar</a:t>
            </a:r>
          </a:p>
        </p:txBody>
      </p:sp>
      <p:sp>
        <p:nvSpPr>
          <p:cNvPr id="100034" name="Body"/>
          <p:cNvSpPr txBox="1"/>
          <p:nvPr/>
        </p:nvSpPr>
        <p:spPr>
          <a:xfrm xmlns:a="http://schemas.openxmlformats.org/drawingml/2006/main">
            <a:off x="457200" y="1620000"/>
            <a:ext cx="5508000" cy="39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ACL: permiso directo por persona y recurso. Simple en pequeño, compleja a escala.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RBAC: derechos a ROLES (Auditor, Gerente de Ventas) y personas a roles. Simplifica y da seguridad operativa.</a:t>
            </a:r>
          </a:p>
        </p:txBody>
      </p:sp>
      <p:pic>
        <p:nvPicPr>
          <p:cNvPr id="100035" name="Picture 1" descr="ACL enredado persona por recurso frente a RBAC ordenado por roles Gerencia y Auditori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1eb3743d6435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336000" y="1728000"/>
            <a:ext cx="5220000" cy="2916000"/>
          </a:xfrm>
          <a:prstGeom xmlns:a="http://schemas.openxmlformats.org/drawingml/2006/main" prst="rect">
            <a:avLst/>
          </a:prstGeom>
        </p:spPr>
      </p:pic>
      <p:sp>
        <p:nvSpPr>
          <p:cNvPr id="100036" name="Footer"/>
          <p:cNvSpPr txBox="1"/>
          <p:nvPr/>
        </p:nvSpPr>
        <p:spPr>
          <a:xfrm xmlns:a="http://schemas.openxmlformats.org/drawingml/2006/main">
            <a:off x="457200" y="6228000"/>
            <a:ext cx="11268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64748B"/>
                </a:solidFill>
                <a:latin typeface="Calibri"/>
                <a:ea typeface="Calibri"/>
              </a:rPr>
              <a:t>Cap. 8.5 · Figura: Estrategia de Seguridad Digital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37" name="TopBand"/>
          <p:cNvSpPr/>
          <p:nvPr/>
        </p:nvSpPr>
        <p:spPr>
          <a:xfrm xmlns:a="http://schemas.openxmlformats.org/drawingml/2006/main">
            <a:off x="0" y="0"/>
            <a:ext cx="12193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8" name="Title"/>
          <p:cNvSpPr txBox="1"/>
          <p:nvPr/>
        </p:nvSpPr>
        <p:spPr>
          <a:xfrm xmlns:a="http://schemas.openxmlformats.org/drawingml/2006/main">
            <a:off x="457200" y="468000"/>
            <a:ext cx="1126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Trebuchet MS"/>
                <a:ea typeface="Trebuchet MS"/>
              </a:rPr>
              <a:t>Cifrado: el lenguaje secreto</a:t>
            </a:r>
          </a:p>
        </p:txBody>
      </p:sp>
      <p:sp>
        <p:nvSpPr>
          <p:cNvPr id="100039" name="Ctx"/>
          <p:cNvSpPr txBox="1"/>
          <p:nvPr/>
        </p:nvSpPr>
        <p:spPr>
          <a:xfrm xmlns:a="http://schemas.openxmlformats.org/drawingml/2006/main">
            <a:off x="457200" y="1116000"/>
            <a:ext cx="11268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ADCFC"/>
                </a:solidFill>
                <a:latin typeface="Calibri"/>
                <a:ea typeface="Calibri"/>
              </a:rPr>
              <a:t>Altera los datos para volverlos incomprensibles sin la clave</a:t>
            </a:r>
          </a:p>
        </p:txBody>
      </p:sp>
      <p:sp>
        <p:nvSpPr>
          <p:cNvPr id="100040" name="Body"/>
          <p:cNvSpPr txBox="1"/>
          <p:nvPr/>
        </p:nvSpPr>
        <p:spPr>
          <a:xfrm xmlns:a="http://schemas.openxmlformats.org/drawingml/2006/main">
            <a:off x="457200" y="1620000"/>
            <a:ext cx="5508000" cy="39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SIMÉTRICO: una sola clave compartida para cifrar y descifrar.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ASIMÉTRICO (clave pública): pública abierta para cifrar + privada exclusiva del destinatario para descifrar.</a:t>
            </a:r>
          </a:p>
        </p:txBody>
      </p:sp>
      <p:pic>
        <p:nvPicPr>
          <p:cNvPr id="100041" name="Picture 1" descr="Cifrado simetrico de clave unica y asimetrico de clave publica y privad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2ef0ddf3c431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336000" y="1728000"/>
            <a:ext cx="5220000" cy="2916000"/>
          </a:xfrm>
          <a:prstGeom xmlns:a="http://schemas.openxmlformats.org/drawingml/2006/main" prst="rect">
            <a:avLst/>
          </a:prstGeom>
        </p:spPr>
      </p:pic>
      <p:sp>
        <p:nvSpPr>
          <p:cNvPr id="100042" name="Footer"/>
          <p:cNvSpPr txBox="1"/>
          <p:nvPr/>
        </p:nvSpPr>
        <p:spPr>
          <a:xfrm xmlns:a="http://schemas.openxmlformats.org/drawingml/2006/main">
            <a:off x="457200" y="6228000"/>
            <a:ext cx="11268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64748B"/>
                </a:solidFill>
                <a:latin typeface="Calibri"/>
                <a:ea typeface="Calibri"/>
              </a:rPr>
              <a:t>Cap. 8.5 · Figura: Estrategia de Seguridad Digital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43" name="TopBand"/>
          <p:cNvSpPr/>
          <p:nvPr/>
        </p:nvSpPr>
        <p:spPr>
          <a:xfrm xmlns:a="http://schemas.openxmlformats.org/drawingml/2006/main">
            <a:off x="0" y="0"/>
            <a:ext cx="12193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4" name="Title"/>
          <p:cNvSpPr txBox="1"/>
          <p:nvPr/>
        </p:nvSpPr>
        <p:spPr>
          <a:xfrm xmlns:a="http://schemas.openxmlformats.org/drawingml/2006/main">
            <a:off x="457200" y="468000"/>
            <a:ext cx="1126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Trebuchet MS"/>
                <a:ea typeface="Trebuchet MS"/>
              </a:rPr>
              <a:t>Perímetro: firewall, VPN y antivirus</a:t>
            </a:r>
          </a:p>
        </p:txBody>
      </p:sp>
      <p:sp>
        <p:nvSpPr>
          <p:cNvPr id="100045" name="Ctx"/>
          <p:cNvSpPr txBox="1"/>
          <p:nvPr/>
        </p:nvSpPr>
        <p:spPr>
          <a:xfrm xmlns:a="http://schemas.openxmlformats.org/drawingml/2006/main">
            <a:off x="457200" y="1116000"/>
            <a:ext cx="11268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ADCFC"/>
                </a:solidFill>
                <a:latin typeface="Calibri"/>
                <a:ea typeface="Calibri"/>
              </a:rPr>
              <a:t>Bloquean el acceso no autorizado y protegen ante fallas</a:t>
            </a:r>
          </a:p>
        </p:txBody>
      </p:sp>
      <p:sp>
        <p:nvSpPr>
          <p:cNvPr id="100046" name="Body"/>
          <p:cNvSpPr txBox="1"/>
          <p:nvPr/>
        </p:nvSpPr>
        <p:spPr>
          <a:xfrm xmlns:a="http://schemas.openxmlformats.org/drawingml/2006/main">
            <a:off x="457200" y="1620000"/>
            <a:ext cx="5508000" cy="39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FIREWALL: inspecciona tráfico y bloquea paquetes fuera de regla.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VPN: túnel cifrado del remoto a la intranet, sobre el firewall.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ANTIVIRUS: monitorea, detecta y neutraliza software malicioso.</a:t>
            </a:r>
          </a:p>
        </p:txBody>
      </p:sp>
      <p:pic>
        <p:nvPicPr>
          <p:cNvPr id="100047" name="Picture 1" descr="VPN: tunel cifrado del empleado remoto a la intranet sobre internet public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73dde80bd4b5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336000" y="1728000"/>
            <a:ext cx="5220000" cy="2916000"/>
          </a:xfrm>
          <a:prstGeom xmlns:a="http://schemas.openxmlformats.org/drawingml/2006/main" prst="rect">
            <a:avLst/>
          </a:prstGeom>
        </p:spPr>
      </p:pic>
      <p:sp>
        <p:nvSpPr>
          <p:cNvPr id="100048" name="Footer"/>
          <p:cNvSpPr txBox="1"/>
          <p:nvPr/>
        </p:nvSpPr>
        <p:spPr>
          <a:xfrm xmlns:a="http://schemas.openxmlformats.org/drawingml/2006/main">
            <a:off x="457200" y="6228000"/>
            <a:ext cx="11268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64748B"/>
                </a:solidFill>
                <a:latin typeface="Calibri"/>
                <a:ea typeface="Calibri"/>
              </a:rPr>
              <a:t>Cap. 8.5 · Túnel VPN — Figura: Estrategia de Seguridad Digital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49" name="TopBand"/>
          <p:cNvSpPr/>
          <p:nvPr/>
        </p:nvSpPr>
        <p:spPr>
          <a:xfrm xmlns:a="http://schemas.openxmlformats.org/drawingml/2006/main">
            <a:off x="0" y="0"/>
            <a:ext cx="12193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0" name="Title"/>
          <p:cNvSpPr txBox="1"/>
          <p:nvPr/>
        </p:nvSpPr>
        <p:spPr>
          <a:xfrm xmlns:a="http://schemas.openxmlformats.org/drawingml/2006/main">
            <a:off x="457200" y="468000"/>
            <a:ext cx="1126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Trebuchet MS"/>
                <a:ea typeface="Trebuchet MS"/>
              </a:rPr>
              <a:t>Resiliencia: el plan de desastres</a:t>
            </a:r>
          </a:p>
        </p:txBody>
      </p:sp>
      <p:sp>
        <p:nvSpPr>
          <p:cNvPr id="100051" name="Ctx"/>
          <p:cNvSpPr txBox="1"/>
          <p:nvPr/>
        </p:nvSpPr>
        <p:spPr>
          <a:xfrm xmlns:a="http://schemas.openxmlformats.org/drawingml/2006/main">
            <a:off x="457200" y="1116000"/>
            <a:ext cx="11268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ADCFC"/>
                </a:solidFill>
                <a:latin typeface="Calibri"/>
                <a:ea typeface="Calibri"/>
              </a:rPr>
              <a:t>Un buen respaldo es el que ya fue probado</a:t>
            </a:r>
          </a:p>
        </p:txBody>
      </p:sp>
      <p:sp>
        <p:nvSpPr>
          <p:cNvPr id="100052" name="Body"/>
          <p:cNvSpPr txBox="1"/>
          <p:nvPr/>
        </p:nvSpPr>
        <p:spPr>
          <a:xfrm xmlns:a="http://schemas.openxmlformats.org/drawingml/2006/main">
            <a:off x="457200" y="1620000"/>
            <a:ext cx="5508000" cy="39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1 · Copias periódicas de datos críticos.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2 · Almacenamiento OFFSITE, fuera del local.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3 · Pruebas continuas de restauración.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4 · UPS + sitios en caliente + redes SAN.</a:t>
            </a:r>
          </a:p>
        </p:txBody>
      </p:sp>
      <p:pic>
        <p:nvPicPr>
          <p:cNvPr id="100053" name="Picture 1" descr="Ciclo de resiliencia: copias, offsite, restauracion y continuidad UP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8edd4ee874a8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336000" y="1728000"/>
            <a:ext cx="5220000" cy="2916000"/>
          </a:xfrm>
          <a:prstGeom xmlns:a="http://schemas.openxmlformats.org/drawingml/2006/main" prst="rect">
            <a:avLst/>
          </a:prstGeom>
        </p:spPr>
      </p:pic>
      <p:sp>
        <p:nvSpPr>
          <p:cNvPr id="100054" name="Footer"/>
          <p:cNvSpPr txBox="1"/>
          <p:nvPr/>
        </p:nvSpPr>
        <p:spPr>
          <a:xfrm xmlns:a="http://schemas.openxmlformats.org/drawingml/2006/main">
            <a:off x="457200" y="6228000"/>
            <a:ext cx="11268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64748B"/>
                </a:solidFill>
                <a:latin typeface="Calibri"/>
                <a:ea typeface="Calibri"/>
              </a:rPr>
              <a:t>Cap. 8.5 · Figura: Estrategia de Seguridad Digital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55" name="TopBand"/>
          <p:cNvSpPr/>
          <p:nvPr/>
        </p:nvSpPr>
        <p:spPr>
          <a:xfrm xmlns:a="http://schemas.openxmlformats.org/drawingml/2006/main">
            <a:off x="0" y="0"/>
            <a:ext cx="12193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6" name="Title"/>
          <p:cNvSpPr txBox="1"/>
          <p:nvPr/>
        </p:nvSpPr>
        <p:spPr>
          <a:xfrm xmlns:a="http://schemas.openxmlformats.org/drawingml/2006/main">
            <a:off x="457200" y="468000"/>
            <a:ext cx="1126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Trebuchet MS"/>
                <a:ea typeface="Trebuchet MS"/>
              </a:rPr>
              <a:t>Detección: IDS y seguridad física</a:t>
            </a:r>
          </a:p>
        </p:txBody>
      </p:sp>
      <p:sp>
        <p:nvSpPr>
          <p:cNvPr id="100057" name="Ctx"/>
          <p:cNvSpPr txBox="1"/>
          <p:nvPr/>
        </p:nvSpPr>
        <p:spPr>
          <a:xfrm xmlns:a="http://schemas.openxmlformats.org/drawingml/2006/main">
            <a:off x="457200" y="1116000"/>
            <a:ext cx="11268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ADCFC"/>
                </a:solidFill>
                <a:latin typeface="Calibri"/>
                <a:ea typeface="Calibri"/>
              </a:rPr>
              <a:t>Ver en tiempo real + proteger el fierro</a:t>
            </a:r>
          </a:p>
        </p:txBody>
      </p:sp>
      <p:sp>
        <p:nvSpPr>
          <p:cNvPr id="100058" name="Body"/>
          <p:cNvSpPr txBox="1"/>
          <p:nvPr/>
        </p:nvSpPr>
        <p:spPr>
          <a:xfrm xmlns:a="http://schemas.openxmlformats.org/drawingml/2006/main">
            <a:off x="457200" y="1620000"/>
            <a:ext cx="5508000" cy="39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IDS: inspecciona el tráfico en tiempo real, detecta patrones y violaciones, y ALERTA al administrador.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FÍSICA: puertas con cerradura, sensores, monitoreo de temperatura/humedad y vigilancia perimetral.</a:t>
            </a:r>
          </a:p>
        </p:txBody>
      </p:sp>
      <p:pic>
        <p:nvPicPr>
          <p:cNvPr id="100059" name="Picture 1" descr="IDS como radar del trafico y seguridad fisica del cuarto de servidor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50db89f6c437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336000" y="1728000"/>
            <a:ext cx="5220000" cy="2916000"/>
          </a:xfrm>
          <a:prstGeom xmlns:a="http://schemas.openxmlformats.org/drawingml/2006/main" prst="rect">
            <a:avLst/>
          </a:prstGeom>
        </p:spPr>
      </p:pic>
      <p:sp>
        <p:nvSpPr>
          <p:cNvPr id="100060" name="Footer"/>
          <p:cNvSpPr txBox="1"/>
          <p:nvPr/>
        </p:nvSpPr>
        <p:spPr>
          <a:xfrm xmlns:a="http://schemas.openxmlformats.org/drawingml/2006/main">
            <a:off x="457200" y="6228000"/>
            <a:ext cx="11268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64748B"/>
                </a:solidFill>
                <a:latin typeface="Calibri"/>
                <a:ea typeface="Calibri"/>
              </a:rPr>
              <a:t>Cap. 8.6 · Figura: Estrategia de Seguridad Digital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61" name="TopBand"/>
          <p:cNvSpPr/>
          <p:nvPr/>
        </p:nvSpPr>
        <p:spPr>
          <a:xfrm xmlns:a="http://schemas.openxmlformats.org/drawingml/2006/main">
            <a:off x="0" y="0"/>
            <a:ext cx="12193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2" name="Title"/>
          <p:cNvSpPr txBox="1"/>
          <p:nvPr/>
        </p:nvSpPr>
        <p:spPr>
          <a:xfrm xmlns:a="http://schemas.openxmlformats.org/drawingml/2006/main">
            <a:off x="457200" y="468000"/>
            <a:ext cx="1126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Trebuchet MS"/>
                <a:ea typeface="Trebuchet MS"/>
              </a:rPr>
              <a:t>Políticas: sin reglas no hay técnica</a:t>
            </a:r>
          </a:p>
        </p:txBody>
      </p:sp>
      <p:sp>
        <p:nvSpPr>
          <p:cNvPr id="100063" name="Ctx"/>
          <p:cNvSpPr txBox="1"/>
          <p:nvPr/>
        </p:nvSpPr>
        <p:spPr>
          <a:xfrm xmlns:a="http://schemas.openxmlformats.org/drawingml/2006/main">
            <a:off x="457200" y="1116000"/>
            <a:ext cx="11268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ADCFC"/>
                </a:solidFill>
                <a:latin typeface="Calibri"/>
                <a:ea typeface="Calibri"/>
              </a:rPr>
              <a:t>La seguridad técnica es ineficaz sin reglas claras</a:t>
            </a:r>
          </a:p>
        </p:txBody>
      </p:sp>
      <p:sp>
        <p:nvSpPr>
          <p:cNvPr id="100064" name="Body"/>
          <p:cNvSpPr txBox="1"/>
          <p:nvPr/>
        </p:nvSpPr>
        <p:spPr>
          <a:xfrm xmlns:a="http://schemas.openxmlformats.org/drawingml/2006/main">
            <a:off x="457200" y="1620000"/>
            <a:ext cx="5508000" cy="39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POLÍTICA: documento formal de uso correcto + sanciones.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PUA: qué se permite y qué se prohíbe — no compartir credenciales, no alojar proyectos personales, no enviar masivos.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EQUILIBRIO: si el control estorba el trabajo, el usuario lo elude y el riesgo crece.</a:t>
            </a:r>
          </a:p>
        </p:txBody>
      </p:sp>
      <p:pic>
        <p:nvPicPr>
          <p:cNvPr id="100065" name="Picture 1" descr="Politicas administrativas y PUA con sus tres prohibiciones clav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75e49dc474a8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336000" y="1728000"/>
            <a:ext cx="5220000" cy="2916000"/>
          </a:xfrm>
          <a:prstGeom xmlns:a="http://schemas.openxmlformats.org/drawingml/2006/main" prst="rect">
            <a:avLst/>
          </a:prstGeom>
        </p:spPr>
      </p:pic>
      <p:sp>
        <p:nvSpPr>
          <p:cNvPr id="100066" name="Footer"/>
          <p:cNvSpPr txBox="1"/>
          <p:nvPr/>
        </p:nvSpPr>
        <p:spPr>
          <a:xfrm xmlns:a="http://schemas.openxmlformats.org/drawingml/2006/main">
            <a:off x="457200" y="6228000"/>
            <a:ext cx="11268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64748B"/>
                </a:solidFill>
                <a:latin typeface="Calibri"/>
                <a:ea typeface="Calibri"/>
              </a:rPr>
              <a:t>Cap. 8.6 · Figura: Estrategia de Seguridad Digital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67" name="TopBand"/>
          <p:cNvSpPr/>
          <p:nvPr/>
        </p:nvSpPr>
        <p:spPr>
          <a:xfrm xmlns:a="http://schemas.openxmlformats.org/drawingml/2006/main">
            <a:off x="0" y="0"/>
            <a:ext cx="12193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8" name="Title"/>
          <p:cNvSpPr txBox="1"/>
          <p:nvPr/>
        </p:nvSpPr>
        <p:spPr>
          <a:xfrm xmlns:a="http://schemas.openxmlformats.org/drawingml/2006/main">
            <a:off x="457200" y="468000"/>
            <a:ext cx="1126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Trebuchet MS"/>
                <a:ea typeface="Trebuchet MS"/>
              </a:rPr>
              <a:t>PII: lo que identifica a la persona</a:t>
            </a:r>
          </a:p>
        </p:txBody>
      </p:sp>
      <p:sp>
        <p:nvSpPr>
          <p:cNvPr id="100069" name="Ctx"/>
          <p:cNvSpPr txBox="1"/>
          <p:nvPr/>
        </p:nvSpPr>
        <p:spPr>
          <a:xfrm xmlns:a="http://schemas.openxmlformats.org/drawingml/2006/main">
            <a:off x="457200" y="1116000"/>
            <a:ext cx="11268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ADCFC"/>
                </a:solidFill>
                <a:latin typeface="Calibri"/>
                <a:ea typeface="Calibri"/>
              </a:rPr>
              <a:t>Privacidad = controlar la información sobre sí mismo</a:t>
            </a:r>
          </a:p>
        </p:txBody>
      </p:sp>
      <p:sp>
        <p:nvSpPr>
          <p:cNvPr id="100070" name="Body"/>
          <p:cNvSpPr txBox="1"/>
          <p:nvPr/>
        </p:nvSpPr>
        <p:spPr>
          <a:xfrm xmlns:a="http://schemas.openxmlformats.org/drawingml/2006/main">
            <a:off x="457200" y="1620000"/>
            <a:ext cx="5508000" cy="39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Resguarde la PII de clientes y empleados: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· Nombres + DPI/CUI.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· Nacimiento + registros biométricos.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· Expedientes médicos, laborales, financieros y bancarios.</a:t>
            </a:r>
          </a:p>
        </p:txBody>
      </p:sp>
      <p:pic>
        <p:nvPicPr>
          <p:cNvPr id="100071" name="Picture 1" descr="PII: DPI, registros sensibles medicos y financieros, y biometri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47533778c46e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336000" y="1728000"/>
            <a:ext cx="5220000" cy="2916000"/>
          </a:xfrm>
          <a:prstGeom xmlns:a="http://schemas.openxmlformats.org/drawingml/2006/main" prst="rect">
            <a:avLst/>
          </a:prstGeom>
        </p:spPr>
      </p:pic>
      <p:sp>
        <p:nvSpPr>
          <p:cNvPr id="100072" name="Footer"/>
          <p:cNvSpPr txBox="1"/>
          <p:nvPr/>
        </p:nvSpPr>
        <p:spPr>
          <a:xfrm xmlns:a="http://schemas.openxmlformats.org/drawingml/2006/main">
            <a:off x="457200" y="6228000"/>
            <a:ext cx="11268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64748B"/>
                </a:solidFill>
                <a:latin typeface="Calibri"/>
                <a:ea typeface="Calibri"/>
              </a:rPr>
              <a:t>Caps. 8.7 y 9.5 · Figura: Estrategia de Seguridad Digital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73" name="TopBand"/>
          <p:cNvSpPr/>
          <p:nvPr/>
        </p:nvSpPr>
        <p:spPr>
          <a:xfrm xmlns:a="http://schemas.openxmlformats.org/drawingml/2006/main">
            <a:off x="0" y="0"/>
            <a:ext cx="12193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4" name="Title"/>
          <p:cNvSpPr txBox="1"/>
          <p:nvPr/>
        </p:nvSpPr>
        <p:spPr>
          <a:xfrm xmlns:a="http://schemas.openxmlformats.org/drawingml/2006/main">
            <a:off x="457200" y="468000"/>
            <a:ext cx="1126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Trebuchet MS"/>
                <a:ea typeface="Trebuchet MS"/>
              </a:rPr>
              <a:t>Principios justos y buenas prácticas</a:t>
            </a:r>
          </a:p>
        </p:txBody>
      </p:sp>
      <p:sp>
        <p:nvSpPr>
          <p:cNvPr id="100075" name="Ctx"/>
          <p:cNvSpPr txBox="1"/>
          <p:nvPr/>
        </p:nvSpPr>
        <p:spPr>
          <a:xfrm xmlns:a="http://schemas.openxmlformats.org/drawingml/2006/main">
            <a:off x="457200" y="1116000"/>
            <a:ext cx="11268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ADCFC"/>
                </a:solidFill>
                <a:latin typeface="Calibri"/>
                <a:ea typeface="Calibri"/>
              </a:rPr>
              <a:t>Responsabilidad legal y ética sobre los datos</a:t>
            </a:r>
          </a:p>
        </p:txBody>
      </p:sp>
      <p:sp>
        <p:nvSpPr>
          <p:cNvPr id="100076" name="Body"/>
          <p:cNvSpPr txBox="1"/>
          <p:nvPr/>
        </p:nvSpPr>
        <p:spPr>
          <a:xfrm xmlns:a="http://schemas.openxmlformats.org/drawingml/2006/main">
            <a:off x="457200" y="1620000"/>
            <a:ext cx="5508000" cy="39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PRINCIPIOS: consentimiento + propósito informado; solo datos necesarios, sin reúso; salvaguardas proporcionales.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EMPRESA: plan de incidentes, sistemas al día, cifrar portátiles y nube, capacitar siempre.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PERSONA: claves largas únicas, cambiarlas, 2FA y escepticismo ante enlaces.</a:t>
            </a:r>
          </a:p>
        </p:txBody>
      </p:sp>
      <p:pic>
        <p:nvPicPr>
          <p:cNvPr id="100077" name="Picture 1" descr="Buenas practicas de resguardo y principios de informacion just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dd48cc5ff4f8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336000" y="1728000"/>
            <a:ext cx="5220000" cy="2916000"/>
          </a:xfrm>
          <a:prstGeom xmlns:a="http://schemas.openxmlformats.org/drawingml/2006/main" prst="rect">
            <a:avLst/>
          </a:prstGeom>
        </p:spPr>
      </p:pic>
      <p:sp>
        <p:nvSpPr>
          <p:cNvPr id="100078" name="Footer"/>
          <p:cNvSpPr txBox="1"/>
          <p:nvPr/>
        </p:nvSpPr>
        <p:spPr>
          <a:xfrm xmlns:a="http://schemas.openxmlformats.org/drawingml/2006/main">
            <a:off x="457200" y="6228000"/>
            <a:ext cx="11268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64748B"/>
                </a:solidFill>
                <a:latin typeface="Calibri"/>
                <a:ea typeface="Calibri"/>
              </a:rPr>
              <a:t>Caps. 8.7 y 9.5 · Figura: Estrategia de Seguridad Digital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79" name="TopBand"/>
          <p:cNvSpPr/>
          <p:nvPr/>
        </p:nvSpPr>
        <p:spPr>
          <a:xfrm xmlns:a="http://schemas.openxmlformats.org/drawingml/2006/main">
            <a:off x="0" y="0"/>
            <a:ext cx="12193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0" name="Title"/>
          <p:cNvSpPr txBox="1"/>
          <p:nvPr/>
        </p:nvSpPr>
        <p:spPr>
          <a:xfrm xmlns:a="http://schemas.openxmlformats.org/drawingml/2006/main">
            <a:off x="457200" y="468000"/>
            <a:ext cx="1126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Trebuchet MS"/>
                <a:ea typeface="Trebuchet MS"/>
              </a:rPr>
              <a:t>Casos de estudio: ¿qué falló?</a:t>
            </a:r>
          </a:p>
        </p:txBody>
      </p:sp>
      <p:sp>
        <p:nvSpPr>
          <p:cNvPr id="100081" name="Ctx"/>
          <p:cNvSpPr txBox="1"/>
          <p:nvPr/>
        </p:nvSpPr>
        <p:spPr>
          <a:xfrm xmlns:a="http://schemas.openxmlformats.org/drawingml/2006/main">
            <a:off x="457200" y="1116000"/>
            <a:ext cx="11268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ADCFC"/>
                </a:solidFill>
                <a:latin typeface="Calibri"/>
                <a:ea typeface="Calibri"/>
              </a:rPr>
              <a:t>Apliquen la teoría: herramienta + pilar CIA + costo en quetzales</a:t>
            </a:r>
          </a:p>
        </p:txBody>
      </p:sp>
      <p:sp>
        <p:nvSpPr>
          <p:cNvPr id="100082" name="C1"/>
          <p:cNvSpPr/>
          <p:nvPr/>
        </p:nvSpPr>
        <p:spPr>
          <a:xfrm xmlns:a="http://schemas.openxmlformats.org/drawingml/2006/main">
            <a:off x="457200" y="1620000"/>
            <a:ext cx="5508000" cy="21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A · Cooperativa sin MFA: solo contraseña, phishing y Q18,500 vaciados. ¿La app de código lo frenaba?</a:t>
            </a:r>
          </a:p>
        </p:txBody>
      </p:sp>
      <p:sp>
        <p:nvSpPr>
          <p:cNvPr id="100083" name="C2"/>
          <p:cNvSpPr/>
          <p:nvPr/>
        </p:nvSpPr>
        <p:spPr>
          <a:xfrm xmlns:a="http://schemas.openxmlformats.org/drawingml/2006/main">
            <a:off x="6228000" y="1620000"/>
            <a:ext cx="5508000" cy="21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B · Retail con ACL caótica: 25 empleados, ex-vendedor activo y Q9,800 en devoluciones falsas.</a:t>
            </a:r>
          </a:p>
        </p:txBody>
      </p:sp>
      <p:sp>
        <p:nvSpPr>
          <p:cNvPr id="100084" name="C3"/>
          <p:cNvSpPr/>
          <p:nvPr/>
        </p:nvSpPr>
        <p:spPr>
          <a:xfrm xmlns:a="http://schemas.openxmlformats.org/drawingml/2006/main">
            <a:off x="457200" y="3996000"/>
            <a:ext cx="5508000" cy="21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C · Distribuidora sin VPN: planilla espiada en WiFi público, pedido de Q22,000 perdido.</a:t>
            </a:r>
          </a:p>
        </p:txBody>
      </p:sp>
      <p:sp>
        <p:nvSpPr>
          <p:cNvPr id="100085" name="C4"/>
          <p:cNvSpPr/>
          <p:nvPr/>
        </p:nvSpPr>
        <p:spPr>
          <a:xfrm xmlns:a="http://schemas.openxmlformats.org/drawingml/2006/main">
            <a:off x="6228000" y="3996000"/>
            <a:ext cx="5508000" cy="21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D · Clínica con DPI en Excel + backup falso: IDS ignorado y rescate de Q24,000.</a:t>
            </a:r>
          </a:p>
        </p:txBody>
      </p:sp>
      <p:sp>
        <p:nvSpPr>
          <p:cNvPr id="100086" name="Footer"/>
          <p:cNvSpPr txBox="1"/>
          <p:nvPr/>
        </p:nvSpPr>
        <p:spPr>
          <a:xfrm xmlns:a="http://schemas.openxmlformats.org/drawingml/2006/main">
            <a:off x="457200" y="6228000"/>
            <a:ext cx="11268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64748B"/>
                </a:solidFill>
                <a:latin typeface="Calibri"/>
                <a:ea typeface="Calibri"/>
              </a:rPr>
              <a:t>No los resolvemos aquí: los diagnostican en la página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87" name="TopBand"/>
          <p:cNvSpPr/>
          <p:nvPr/>
        </p:nvSpPr>
        <p:spPr>
          <a:xfrm xmlns:a="http://schemas.openxmlformats.org/drawingml/2006/main">
            <a:off x="0" y="0"/>
            <a:ext cx="12193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8" name="Title"/>
          <p:cNvSpPr txBox="1"/>
          <p:nvPr/>
        </p:nvSpPr>
        <p:spPr>
          <a:xfrm xmlns:a="http://schemas.openxmlformats.org/drawingml/2006/main">
            <a:off x="457200" y="468000"/>
            <a:ext cx="1126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Trebuchet MS"/>
                <a:ea typeface="Trebuchet MS"/>
              </a:rPr>
              <a:t>A trabajar: página Semana 11</a:t>
            </a:r>
          </a:p>
        </p:txBody>
      </p:sp>
      <p:sp>
        <p:nvSpPr>
          <p:cNvPr id="100089" name="Ctx"/>
          <p:cNvSpPr txBox="1"/>
          <p:nvPr/>
        </p:nvSpPr>
        <p:spPr>
          <a:xfrm xmlns:a="http://schemas.openxmlformats.org/drawingml/2006/main">
            <a:off x="457200" y="1116000"/>
            <a:ext cx="11268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ADCFC"/>
                </a:solidFill>
                <a:latin typeface="Calibri"/>
                <a:ea typeface="Calibri"/>
              </a:rPr>
              <a:t>informática1/Semana11/Semana11CiberSeguridad2.html</a:t>
            </a:r>
          </a:p>
        </p:txBody>
      </p:sp>
      <p:sp>
        <p:nvSpPr>
          <p:cNvPr id="100090" name="Body"/>
          <p:cNvSpPr txBox="1"/>
          <p:nvPr/>
        </p:nvSpPr>
        <p:spPr>
          <a:xfrm xmlns:a="http://schemas.openxmlformats.org/drawingml/2006/main">
            <a:off x="457200" y="1620000"/>
            <a:ext cx="11268000" cy="41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MISIONES 1–10: ecosistema, contraseña, engranajes MFA, slider ACL/RBAC, cifrador, mini-firewall, túnel VPN, checklist 3-2-1, radar IDS, balanza y clasificador PII.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PAREJAS 40 MIN: piloto propone, copiloto cuestiona; investigan 5–10 min; guardan 4 casos; mentor IA valida; compromiso PUA + PDF Apellidos_Carnets_Sem11.pdf a Canvas.</a:t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TAREA: Silla del Gerente S11 (hotel de Antigua) individual con su PDF.</a:t>
            </a:r>
          </a:p>
        </p:txBody>
      </p:sp>
      <p:sp>
        <p:nvSpPr>
          <p:cNvPr id="100091" name="Footer"/>
          <p:cNvSpPr txBox="1"/>
          <p:nvPr/>
        </p:nvSpPr>
        <p:spPr>
          <a:xfrm xmlns:a="http://schemas.openxmlformats.org/drawingml/2006/main">
            <a:off x="457200" y="6228000"/>
            <a:ext cx="11268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64748B"/>
                </a:solidFill>
                <a:latin typeface="Calibri"/>
                <a:ea typeface="Calibri"/>
              </a:rPr>
              <a:t>Mentoría IA con su API Key OpenRouter · Sin conexión también pueden continuar</a:t>
            </a:r>
          </a:p>
        </p:txBody>
      </p:sp>
    </p:spTree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/>
      <p:sp>
        <p:nvSpPr>
          <p:cNvPr id="100092" name="TopBand"/>
          <p:cNvSpPr/>
          <p:nvPr/>
        </p:nvSpPr>
        <p:spPr>
          <a:xfrm xmlns:a="http://schemas.openxmlformats.org/drawingml/2006/main">
            <a:off x="0" y="0"/>
            <a:ext cx="12193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3" name="Title"/>
          <p:cNvSpPr txBox="1"/>
          <p:nvPr/>
        </p:nvSpPr>
        <p:spPr>
          <a:xfrm xmlns:a="http://schemas.openxmlformats.org/drawingml/2006/main">
            <a:off x="457200" y="468000"/>
            <a:ext cx="1126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Trebuchet MS"/>
                <a:ea typeface="Trebuchet MS"/>
              </a:rPr>
              <a:t>Cierre: el checklist del gerente</a:t>
            </a:r>
          </a:p>
        </p:txBody>
      </p:sp>
      <p:sp>
        <p:nvSpPr>
          <p:cNvPr id="100094" name="Body"/>
          <p:cNvSpPr txBox="1"/>
          <p:nvPr/>
        </p:nvSpPr>
        <p:spPr>
          <a:xfrm xmlns:a="http://schemas.openxmlformats.org/drawingml/2006/main">
            <a:off x="457200" y="1440000"/>
            <a:ext cx="11268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FFFFFF"/>
                </a:solidFill>
                <a:latin typeface="Calibri"/>
                <a:ea typeface="Calibri"/>
              </a:rPr>
              <a:t>Antes de salir, su empresa debe tener:</a:t>
            </a:r>
          </a:p>
          <a:p xmlns:a="http://schemas.openxmlformats.org/drawingml/2006/main">
            <a:r>
              <a:rPr lang="en-US" sz="22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200">
                <a:solidFill>
                  <a:srgbClr val="FFFFFF"/>
                </a:solidFill>
                <a:latin typeface="Calibri"/>
                <a:ea typeface="Calibri"/>
              </a:rPr>
              <a:t>MFA en banca, correo y ERP · RBAC con bajas inmediatas · VPN + cifrado en remoto · Backup 3-2-1 probado + UPS · PUA firmada sin genéricos · PII con consentimiento y mínimo.</a:t>
            </a:r>
          </a:p>
          <a:p xmlns:a="http://schemas.openxmlformats.org/drawingml/2006/main">
            <a:r>
              <a:rPr lang="en-US" sz="22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200">
                <a:solidFill>
                  <a:srgbClr val="FFFFFF"/>
                </a:solidFill>
                <a:latin typeface="Calibri"/>
                <a:ea typeface="Calibri"/>
              </a:rPr>
              <a:t>Seguridad que estorba, se elude: blinde sin frenar el negocio.</a:t>
            </a:r>
          </a:p>
        </p:txBody>
      </p:sp>
      <p:sp>
        <p:nvSpPr>
          <p:cNvPr id="100095" name="Strap"/>
          <p:cNvSpPr/>
          <p:nvPr/>
        </p:nvSpPr>
        <p:spPr>
          <a:xfrm xmlns:a="http://schemas.openxmlformats.org/drawingml/2006/main">
            <a:off x="2700000" y="5112000"/>
            <a:ext cx="67932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F1D1D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Ruldin Ayala · UMG 2026 · Caps. 8–9 estrictos</a:t>
            </a:r>
          </a:p>
        </p:txBody>
      </p:sp>
      <p:sp>
        <p:nvSpPr>
          <p:cNvPr id="100096" name="Footer"/>
          <p:cNvSpPr txBox="1"/>
          <p:nvPr/>
        </p:nvSpPr>
        <p:spPr>
          <a:xfrm xmlns:a="http://schemas.openxmlformats.org/drawingml/2006/main">
            <a:off x="457200" y="6228000"/>
            <a:ext cx="11268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64748B"/>
                </a:solidFill>
                <a:latin typeface="Calibri"/>
                <a:ea typeface="Calibri"/>
              </a:rPr>
              <a:t>Semana 11 · EscudoGerencial UMG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OfficeCLI/1.0.151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2026-09-18T03:21:59Z</dcterms:created>
  <cp:lastModifiedBy>OfficeCLI</cp:lastModifiedBy>
  <dcterms:modified xsi:type="dcterms:W3CDTF">2026-09-18T03:21:59Z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1.0.151</vt:lpwstr>
  </op:property>
  <op:property fmtid="{D5CDD505-2E9C-101B-9397-08002B2CF9AE}" pid="3" name="OfficeCLI.LastModified">
    <vt:lpwstr xmlns:vt="http://schemas.openxmlformats.org/officeDocument/2006/docPropsVTypes">2026-09-18T03:53:57Z</vt:lpwstr>
  </op:property>
</op:Properties>
</file>